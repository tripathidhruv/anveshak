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3E5"/>
    <a:srgbClr val="F8FAF4"/>
    <a:srgbClr val="FCF6F6"/>
    <a:srgbClr val="F9F1FD"/>
    <a:srgbClr val="FFF2E5"/>
    <a:srgbClr val="FFF0E1"/>
    <a:srgbClr val="FFFFFF"/>
    <a:srgbClr val="FCF8FE"/>
    <a:srgbClr val="F7EAE9"/>
    <a:srgbClr val="FAF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70" y="26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tripathidhruv/Anveshak" TargetMode="External"/><Relationship Id="rId5" Type="http://schemas.openxmlformats.org/officeDocument/2006/relationships/hyperlink" Target="https://youtu.be/qlXfJQuyy_A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image" Target="../media/image16.svg"/><Relationship Id="rId17" Type="http://schemas.openxmlformats.org/officeDocument/2006/relationships/image" Target="../media/image17.png"/><Relationship Id="rId18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cybercrime.gov.in/" TargetMode="External"/><Relationship Id="rId5" Type="http://schemas.openxmlformats.org/officeDocument/2006/relationships/hyperlink" Target="https://graphsense.org/" TargetMode="External"/><Relationship Id="rId6" Type="http://schemas.openxmlformats.org/officeDocument/2006/relationships/hyperlink" Target="https://www.chainalysis.com/" TargetMode="External"/><Relationship Id="rId7" Type="http://schemas.openxmlformats.org/officeDocument/2006/relationships/hyperlink" Target="https://www.trmlabs.com/" TargetMode="External"/><Relationship Id="rId8" Type="http://schemas.openxmlformats.org/officeDocument/2006/relationships/hyperlink" Target="https://tronscan.org/" TargetMode="External"/><Relationship Id="rId9" Type="http://schemas.openxmlformats.org/officeDocument/2006/relationships/hyperlink" Target="https://etherscan.io/" TargetMode="External"/><Relationship Id="rId10" Type="http://schemas.openxmlformats.org/officeDocument/2006/relationships/hyperlink" Target="https://arxiv.org/abs/1908.02591" TargetMode="External"/><Relationship Id="rId11" Type="http://schemas.openxmlformats.org/officeDocument/2006/relationships/hyperlink" Target="https://maltemoeser.de/paper/money-laundering.pdf" TargetMode="External"/><Relationship Id="rId12" Type="http://schemas.openxmlformats.org/officeDocument/2006/relationships/hyperlink" Target="https://www.fatf-gafi.org/content/dam/fatf-gafi/guidance/Updated-Guidance-VA-VASP.pdf.coredownload.inline.pdf" TargetMode="External"/><Relationship Id="rId13" Type="http://schemas.openxmlformats.org/officeDocument/2006/relationships/hyperlink" Target="https://github.com/tripathidhruv/Anveshak" TargetMode="External"/><Relationship Id="rId14" Type="http://schemas.openxmlformats.org/officeDocument/2006/relationships/hyperlink" Target="https://youtu.be/qlXfJQuyy_A" TargetMode="External"/><Relationship Id="rId15" Type="http://schemas.openxmlformats.org/officeDocument/2006/relationships/hyperlink" Target="https://kaizensih.abrdn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9109" y="1549693"/>
            <a:ext cx="6386756" cy="4779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>
                <a:solidFill>
                  <a:srgbClr val="1F2429"/>
                </a:solidFill>
                <a:latin typeface="Calibri"/>
              </a:rPr>
              <a:t>26182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600" dirty="0">
                <a:solidFill>
                  <a:srgbClr val="1F24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Attribution of Unknown Cryptocurrency Wallets to the Nearest Virtual Asset Service Providers (VASPs) for Stronger Cross-Border Investigations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solidFill>
                  <a:srgbClr val="1F24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TROVER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51908"/>
            <a:ext cx="12191999" cy="20609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7985" y="6570576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59774" y="6571422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646" y="53023"/>
            <a:ext cx="13197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TROVER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D5BD391-0E2B-E041-F1B4-08A8F2017555}"/>
              </a:ext>
            </a:extLst>
          </p:cNvPr>
          <p:cNvGrpSpPr/>
          <p:nvPr/>
        </p:nvGrpSpPr>
        <p:grpSpPr>
          <a:xfrm>
            <a:off x="67411" y="1124639"/>
            <a:ext cx="5975871" cy="3168592"/>
            <a:chOff x="58473" y="910304"/>
            <a:chExt cx="7037267" cy="228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5574758-A29E-1F62-DD04-967B116DF714}"/>
                </a:ext>
              </a:extLst>
            </p:cNvPr>
            <p:cNvSpPr/>
            <p:nvPr/>
          </p:nvSpPr>
          <p:spPr>
            <a:xfrm>
              <a:off x="142735" y="1033867"/>
              <a:ext cx="6953005" cy="2157683"/>
            </a:xfrm>
            <a:prstGeom prst="roundRect">
              <a:avLst>
                <a:gd name="adj" fmla="val 5399"/>
              </a:avLst>
            </a:prstGeom>
            <a:solidFill>
              <a:srgbClr val="FFFFFF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097A9B74-BAE6-3133-B27B-28A90B9C441A}"/>
                </a:ext>
              </a:extLst>
            </p:cNvPr>
            <p:cNvSpPr/>
            <p:nvPr/>
          </p:nvSpPr>
          <p:spPr>
            <a:xfrm>
              <a:off x="270306" y="937115"/>
              <a:ext cx="2336282" cy="219388"/>
            </a:xfrm>
            <a:custGeom>
              <a:avLst/>
              <a:gdLst/>
              <a:ahLst/>
              <a:cxnLst/>
              <a:rect l="l" t="t" r="r" b="b"/>
              <a:pathLst>
                <a:path w="1545590" h="311150">
                  <a:moveTo>
                    <a:pt x="1443735" y="0"/>
                  </a:moveTo>
                  <a:lnTo>
                    <a:pt x="101600" y="0"/>
                  </a:lnTo>
                  <a:lnTo>
                    <a:pt x="62043" y="7979"/>
                  </a:lnTo>
                  <a:lnTo>
                    <a:pt x="29749" y="29733"/>
                  </a:lnTo>
                  <a:lnTo>
                    <a:pt x="7981" y="61989"/>
                  </a:lnTo>
                  <a:lnTo>
                    <a:pt x="0" y="101472"/>
                  </a:lnTo>
                  <a:lnTo>
                    <a:pt x="0" y="209295"/>
                  </a:lnTo>
                  <a:lnTo>
                    <a:pt x="7981" y="248852"/>
                  </a:lnTo>
                  <a:lnTo>
                    <a:pt x="29749" y="281146"/>
                  </a:lnTo>
                  <a:lnTo>
                    <a:pt x="62043" y="302914"/>
                  </a:lnTo>
                  <a:lnTo>
                    <a:pt x="101600" y="310895"/>
                  </a:lnTo>
                  <a:lnTo>
                    <a:pt x="1443735" y="310895"/>
                  </a:lnTo>
                  <a:lnTo>
                    <a:pt x="1483292" y="302914"/>
                  </a:lnTo>
                  <a:lnTo>
                    <a:pt x="1515586" y="281146"/>
                  </a:lnTo>
                  <a:lnTo>
                    <a:pt x="1537354" y="248852"/>
                  </a:lnTo>
                  <a:lnTo>
                    <a:pt x="1545335" y="209295"/>
                  </a:lnTo>
                  <a:lnTo>
                    <a:pt x="1545335" y="101472"/>
                  </a:lnTo>
                  <a:lnTo>
                    <a:pt x="1537354" y="61989"/>
                  </a:lnTo>
                  <a:lnTo>
                    <a:pt x="1515586" y="29733"/>
                  </a:lnTo>
                  <a:lnTo>
                    <a:pt x="1483292" y="7979"/>
                  </a:lnTo>
                  <a:lnTo>
                    <a:pt x="1443735" y="0"/>
                  </a:lnTo>
                  <a:close/>
                </a:path>
              </a:pathLst>
            </a:custGeom>
            <a:solidFill>
              <a:srgbClr val="002E9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649D2124-9364-9441-184E-1CA92831320C}"/>
                </a:ext>
              </a:extLst>
            </p:cNvPr>
            <p:cNvSpPr txBox="1"/>
            <p:nvPr/>
          </p:nvSpPr>
          <p:spPr>
            <a:xfrm>
              <a:off x="561357" y="968018"/>
              <a:ext cx="2423162" cy="2193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11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PROPOSED SOLUTION</a:t>
              </a:r>
              <a:endParaRPr lang="en-US" sz="11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object 25">
              <a:extLst>
                <a:ext uri="{FF2B5EF4-FFF2-40B4-BE49-F238E27FC236}">
                  <a16:creationId xmlns:a16="http://schemas.microsoft.com/office/drawing/2014/main" id="{ABBF26F6-2F73-D69D-6C70-53F063DA74C0}"/>
                </a:ext>
              </a:extLst>
            </p:cNvPr>
            <p:cNvSpPr/>
            <p:nvPr/>
          </p:nvSpPr>
          <p:spPr>
            <a:xfrm>
              <a:off x="144803" y="910304"/>
              <a:ext cx="332292" cy="273008"/>
            </a:xfrm>
            <a:custGeom>
              <a:avLst/>
              <a:gdLst/>
              <a:ahLst/>
              <a:cxnLst/>
              <a:rect l="l" t="t" r="r" b="b"/>
              <a:pathLst>
                <a:path w="421004" h="393700">
                  <a:moveTo>
                    <a:pt x="210311" y="0"/>
                  </a:moveTo>
                  <a:lnTo>
                    <a:pt x="162072" y="5198"/>
                  </a:lnTo>
                  <a:lnTo>
                    <a:pt x="117798" y="20006"/>
                  </a:lnTo>
                  <a:lnTo>
                    <a:pt x="78750" y="43237"/>
                  </a:lnTo>
                  <a:lnTo>
                    <a:pt x="46186" y="73708"/>
                  </a:lnTo>
                  <a:lnTo>
                    <a:pt x="21367" y="110236"/>
                  </a:lnTo>
                  <a:lnTo>
                    <a:pt x="5551" y="151635"/>
                  </a:lnTo>
                  <a:lnTo>
                    <a:pt x="0" y="196723"/>
                  </a:lnTo>
                  <a:lnTo>
                    <a:pt x="5551" y="241803"/>
                  </a:lnTo>
                  <a:lnTo>
                    <a:pt x="21367" y="283184"/>
                  </a:lnTo>
                  <a:lnTo>
                    <a:pt x="46186" y="319687"/>
                  </a:lnTo>
                  <a:lnTo>
                    <a:pt x="78750" y="350131"/>
                  </a:lnTo>
                  <a:lnTo>
                    <a:pt x="117798" y="373338"/>
                  </a:lnTo>
                  <a:lnTo>
                    <a:pt x="162072" y="388127"/>
                  </a:lnTo>
                  <a:lnTo>
                    <a:pt x="210311" y="393319"/>
                  </a:lnTo>
                  <a:lnTo>
                    <a:pt x="258551" y="388127"/>
                  </a:lnTo>
                  <a:lnTo>
                    <a:pt x="302825" y="373338"/>
                  </a:lnTo>
                  <a:lnTo>
                    <a:pt x="341873" y="350131"/>
                  </a:lnTo>
                  <a:lnTo>
                    <a:pt x="374437" y="319687"/>
                  </a:lnTo>
                  <a:lnTo>
                    <a:pt x="399256" y="283184"/>
                  </a:lnTo>
                  <a:lnTo>
                    <a:pt x="415072" y="241803"/>
                  </a:lnTo>
                  <a:lnTo>
                    <a:pt x="420624" y="196723"/>
                  </a:lnTo>
                  <a:lnTo>
                    <a:pt x="415072" y="151635"/>
                  </a:lnTo>
                  <a:lnTo>
                    <a:pt x="399256" y="110236"/>
                  </a:lnTo>
                  <a:lnTo>
                    <a:pt x="374437" y="73708"/>
                  </a:lnTo>
                  <a:lnTo>
                    <a:pt x="341873" y="43237"/>
                  </a:lnTo>
                  <a:lnTo>
                    <a:pt x="302825" y="20006"/>
                  </a:lnTo>
                  <a:lnTo>
                    <a:pt x="258551" y="5198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D781BAD-8CCD-28B2-933A-3026AF14A610}"/>
                </a:ext>
              </a:extLst>
            </p:cNvPr>
            <p:cNvGrpSpPr/>
            <p:nvPr/>
          </p:nvGrpSpPr>
          <p:grpSpPr>
            <a:xfrm>
              <a:off x="58473" y="911436"/>
              <a:ext cx="379007" cy="273008"/>
              <a:chOff x="-52368" y="1271560"/>
              <a:chExt cx="473613" cy="318626"/>
            </a:xfrm>
          </p:grpSpPr>
          <p:sp>
            <p:nvSpPr>
              <p:cNvPr id="30" name="object 26">
                <a:extLst>
                  <a:ext uri="{FF2B5EF4-FFF2-40B4-BE49-F238E27FC236}">
                    <a16:creationId xmlns:a16="http://schemas.microsoft.com/office/drawing/2014/main" id="{5CC80895-D7DB-DF80-7AA0-89C6712F3D95}"/>
                  </a:ext>
                </a:extLst>
              </p:cNvPr>
              <p:cNvSpPr/>
              <p:nvPr/>
            </p:nvSpPr>
            <p:spPr>
              <a:xfrm>
                <a:off x="-52368" y="1271560"/>
                <a:ext cx="473613" cy="318626"/>
              </a:xfrm>
              <a:custGeom>
                <a:avLst/>
                <a:gdLst/>
                <a:ahLst/>
                <a:cxnLst/>
                <a:rect l="l" t="t" r="r" b="b"/>
                <a:pathLst>
                  <a:path w="439420" h="393700">
                    <a:moveTo>
                      <a:pt x="219455" y="0"/>
                    </a:moveTo>
                    <a:lnTo>
                      <a:pt x="169150" y="5198"/>
                    </a:lnTo>
                    <a:lnTo>
                      <a:pt x="122964" y="20006"/>
                    </a:lnTo>
                    <a:lnTo>
                      <a:pt x="82216" y="43237"/>
                    </a:lnTo>
                    <a:lnTo>
                      <a:pt x="48225" y="73708"/>
                    </a:lnTo>
                    <a:lnTo>
                      <a:pt x="22313" y="110236"/>
                    </a:lnTo>
                    <a:lnTo>
                      <a:pt x="5798" y="151635"/>
                    </a:lnTo>
                    <a:lnTo>
                      <a:pt x="0" y="196723"/>
                    </a:lnTo>
                    <a:lnTo>
                      <a:pt x="5798" y="241803"/>
                    </a:lnTo>
                    <a:lnTo>
                      <a:pt x="22313" y="283184"/>
                    </a:lnTo>
                    <a:lnTo>
                      <a:pt x="48225" y="319687"/>
                    </a:lnTo>
                    <a:lnTo>
                      <a:pt x="82216" y="350131"/>
                    </a:lnTo>
                    <a:lnTo>
                      <a:pt x="122964" y="373338"/>
                    </a:lnTo>
                    <a:lnTo>
                      <a:pt x="169150" y="388127"/>
                    </a:lnTo>
                    <a:lnTo>
                      <a:pt x="219455" y="393319"/>
                    </a:lnTo>
                    <a:lnTo>
                      <a:pt x="269761" y="388127"/>
                    </a:lnTo>
                    <a:lnTo>
                      <a:pt x="315947" y="373338"/>
                    </a:lnTo>
                    <a:lnTo>
                      <a:pt x="356695" y="350131"/>
                    </a:lnTo>
                    <a:lnTo>
                      <a:pt x="390686" y="319687"/>
                    </a:lnTo>
                    <a:lnTo>
                      <a:pt x="416598" y="283184"/>
                    </a:lnTo>
                    <a:lnTo>
                      <a:pt x="433113" y="241803"/>
                    </a:lnTo>
                    <a:lnTo>
                      <a:pt x="438912" y="196723"/>
                    </a:lnTo>
                    <a:lnTo>
                      <a:pt x="433113" y="151635"/>
                    </a:lnTo>
                    <a:lnTo>
                      <a:pt x="416598" y="110236"/>
                    </a:lnTo>
                    <a:lnTo>
                      <a:pt x="390686" y="73708"/>
                    </a:lnTo>
                    <a:lnTo>
                      <a:pt x="356695" y="43237"/>
                    </a:lnTo>
                    <a:lnTo>
                      <a:pt x="315947" y="20006"/>
                    </a:lnTo>
                    <a:lnTo>
                      <a:pt x="269761" y="5198"/>
                    </a:lnTo>
                    <a:lnTo>
                      <a:pt x="219455" y="0"/>
                    </a:lnTo>
                    <a:close/>
                  </a:path>
                </a:pathLst>
              </a:custGeom>
              <a:solidFill>
                <a:srgbClr val="002E9E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35" name="object 148">
                <a:extLst>
                  <a:ext uri="{FF2B5EF4-FFF2-40B4-BE49-F238E27FC236}">
                    <a16:creationId xmlns:a16="http://schemas.microsoft.com/office/drawing/2014/main" id="{177EA044-E81B-420D-52AD-A1C81374F71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415" y="1312798"/>
                <a:ext cx="352184" cy="224419"/>
              </a:xfrm>
              <a:prstGeom prst="rect">
                <a:avLst/>
              </a:prstGeom>
            </p:spPr>
          </p:pic>
        </p:grpSp>
        <p:sp>
          <p:nvSpPr>
            <p:cNvPr id="15364" name="Rectangle: Rounded Corners 15363">
              <a:extLst>
                <a:ext uri="{FF2B5EF4-FFF2-40B4-BE49-F238E27FC236}">
                  <a16:creationId xmlns:a16="http://schemas.microsoft.com/office/drawing/2014/main" id="{FD790DEF-5D10-9CFB-6CF5-7F3BD51D75EC}"/>
                </a:ext>
              </a:extLst>
            </p:cNvPr>
            <p:cNvSpPr/>
            <p:nvPr/>
          </p:nvSpPr>
          <p:spPr>
            <a:xfrm>
              <a:off x="244978" y="1945969"/>
              <a:ext cx="6757870" cy="1205225"/>
            </a:xfrm>
            <a:prstGeom prst="roundRect">
              <a:avLst>
                <a:gd name="adj" fmla="val 11885"/>
              </a:avLst>
            </a:prstGeom>
            <a:noFill/>
            <a:ln w="31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0C067A-06DB-F70C-FA65-F64D68ABFB32}"/>
                </a:ext>
              </a:extLst>
            </p:cNvPr>
            <p:cNvSpPr txBox="1"/>
            <p:nvPr/>
          </p:nvSpPr>
          <p:spPr>
            <a:xfrm>
              <a:off x="222867" y="1200274"/>
              <a:ext cx="68393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solidFill>
                    <a:srgbClr val="002E9E"/>
                  </a:solidFill>
                </a:rPr>
                <a:t>ANVESHAK (अन्वेषक, “the seeker”):</a:t>
              </a:r>
              <a:r>
                <a:rPr lang="en-IN" sz="1400" b="1" dirty="0"/>
                <a:t> </a:t>
              </a:r>
              <a:r>
                <a:rPr lang="en-IN" sz="1400" dirty="0"/>
                <a:t>An investigator console that turns an </a:t>
              </a:r>
              <a:r>
                <a:rPr lang="en-IN" sz="1400" b="1" dirty="0"/>
                <a:t>unknown wallet</a:t>
              </a:r>
              <a:r>
                <a:rPr lang="en-IN" sz="1400" dirty="0"/>
                <a:t> into the </a:t>
              </a:r>
              <a:r>
                <a:rPr lang="en-IN" sz="1400" b="1" dirty="0"/>
                <a:t>nearest VASP holding the KYC</a:t>
              </a:r>
              <a:r>
                <a:rPr lang="en-IN" sz="1400" dirty="0"/>
                <a:t>, shows </a:t>
              </a:r>
              <a:r>
                <a:rPr lang="en-IN" sz="1400" b="1" dirty="0"/>
                <a:t>exactly why</a:t>
              </a:r>
              <a:r>
                <a:rPr lang="en-IN" sz="1400" dirty="0"/>
                <a:t>, routes the </a:t>
              </a:r>
              <a:r>
                <a:rPr lang="en-IN" sz="1400" b="1" dirty="0"/>
                <a:t>right legal request to the right country</a:t>
              </a:r>
              <a:r>
                <a:rPr lang="en-IN" sz="1400" dirty="0"/>
                <a:t> and tracks it </a:t>
              </a:r>
              <a:r>
                <a:rPr lang="en-IN" sz="1400" b="1" dirty="0"/>
                <a:t>until the money is frozen.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B7D577-A039-5279-26AC-72634E00CD90}"/>
                </a:ext>
              </a:extLst>
            </p:cNvPr>
            <p:cNvSpPr txBox="1"/>
            <p:nvPr/>
          </p:nvSpPr>
          <p:spPr>
            <a:xfrm>
              <a:off x="337026" y="1970627"/>
              <a:ext cx="6665822" cy="1218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Wingdings" panose="05000000000000000000" pitchFamily="2" charset="2"/>
                <a:buChar char="Ø"/>
              </a:pPr>
              <a:r>
                <a:rPr lang="en-IN" sz="1300" b="1" dirty="0"/>
                <a:t>Reads the complaint as typed</a:t>
              </a:r>
              <a:r>
                <a:rPr lang="en-IN" sz="1300" dirty="0"/>
                <a:t> in Hinglish (“shaam 7:42”, “12.4 lakh”) and opens the case in seconds.</a:t>
              </a:r>
            </a:p>
            <a:p>
              <a:pPr marL="171450" lvl="0" indent="-171450">
                <a:buFont typeface="Wingdings" panose="05000000000000000000" pitchFamily="2" charset="2"/>
                <a:buChar char="Ø"/>
              </a:pPr>
              <a:r>
                <a:rPr lang="en-IN" sz="1300" b="1" dirty="0"/>
                <a:t>Remembers every wallet</a:t>
              </a:r>
              <a:r>
                <a:rPr lang="en-IN" sz="1300" dirty="0"/>
                <a:t> India has ever reported.</a:t>
              </a:r>
            </a:p>
            <a:p>
              <a:pPr marL="171450" lvl="0" indent="-171450">
                <a:buFont typeface="Wingdings" panose="05000000000000000000" pitchFamily="2" charset="2"/>
                <a:buChar char="Ø"/>
              </a:pPr>
              <a:r>
                <a:rPr lang="en-IN" sz="1300" b="1" dirty="0"/>
                <a:t>Traces &amp; attributes</a:t>
              </a:r>
              <a:r>
                <a:rPr lang="en-IN" sz="1300" dirty="0"/>
                <a:t> across TRON, Ethereum &amp; Bitcoin to the nearest VASP.</a:t>
              </a:r>
            </a:p>
            <a:p>
              <a:pPr marL="171450" lvl="0" indent="-171450">
                <a:buFont typeface="Wingdings" panose="05000000000000000000" pitchFamily="2" charset="2"/>
                <a:buChar char="Ø"/>
              </a:pPr>
              <a:r>
                <a:rPr lang="en-IN" sz="1300" b="1" dirty="0"/>
                <a:t>Follows the rupee</a:t>
              </a:r>
              <a:r>
                <a:rPr lang="en-IN" sz="1300" dirty="0"/>
                <a:t> out of crypto into UPI mule accounts.</a:t>
              </a:r>
            </a:p>
            <a:p>
              <a:pPr marL="171450" lvl="0" indent="-171450">
                <a:buFont typeface="Wingdings" panose="05000000000000000000" pitchFamily="2" charset="2"/>
                <a:buChar char="Ø"/>
              </a:pPr>
              <a:r>
                <a:rPr lang="en-IN" sz="1300" b="1" dirty="0"/>
                <a:t>Drafts &amp; routes</a:t>
              </a:r>
              <a:r>
                <a:rPr lang="en-IN" sz="1300" dirty="0"/>
                <a:t> BNSS/BSA notices, or MLAT / INTERPOL / FIU-to-FIU requests abroad.</a:t>
              </a:r>
            </a:p>
          </p:txBody>
        </p:sp>
      </p:grpSp>
      <p:sp>
        <p:nvSpPr>
          <p:cNvPr id="15386" name="TextBox 15385">
            <a:extLst>
              <a:ext uri="{FF2B5EF4-FFF2-40B4-BE49-F238E27FC236}">
                <a16:creationId xmlns:a16="http://schemas.microsoft.com/office/drawing/2014/main" id="{11EC66C5-F04C-C402-5A28-E21037265344}"/>
              </a:ext>
            </a:extLst>
          </p:cNvPr>
          <p:cNvSpPr txBox="1"/>
          <p:nvPr/>
        </p:nvSpPr>
        <p:spPr>
          <a:xfrm>
            <a:off x="4358640" y="241505"/>
            <a:ext cx="3474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ANVESHAK</a:t>
            </a:r>
          </a:p>
          <a:p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BEB564B-13F6-AFA7-2D0B-D762BC5CF028}"/>
              </a:ext>
            </a:extLst>
          </p:cNvPr>
          <p:cNvGrpSpPr/>
          <p:nvPr/>
        </p:nvGrpSpPr>
        <p:grpSpPr>
          <a:xfrm>
            <a:off x="6204100" y="1179231"/>
            <a:ext cx="5873068" cy="2659087"/>
            <a:chOff x="92706" y="4505817"/>
            <a:chExt cx="6978979" cy="245296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8325C84-471F-4970-C75C-00FE639754F0}"/>
                </a:ext>
              </a:extLst>
            </p:cNvPr>
            <p:cNvGrpSpPr/>
            <p:nvPr/>
          </p:nvGrpSpPr>
          <p:grpSpPr>
            <a:xfrm>
              <a:off x="92706" y="4505817"/>
              <a:ext cx="6978979" cy="2452969"/>
              <a:chOff x="92589" y="4701283"/>
              <a:chExt cx="7071889" cy="1943966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3984F74F-D7C8-7ED3-DFF0-F5433C983D04}"/>
                  </a:ext>
                </a:extLst>
              </p:cNvPr>
              <p:cNvSpPr/>
              <p:nvPr/>
            </p:nvSpPr>
            <p:spPr>
              <a:xfrm>
                <a:off x="130610" y="4837496"/>
                <a:ext cx="7033868" cy="1807753"/>
              </a:xfrm>
              <a:prstGeom prst="roundRect">
                <a:avLst>
                  <a:gd name="adj" fmla="val 5399"/>
                </a:avLst>
              </a:prstGeom>
              <a:solidFill>
                <a:srgbClr val="FFFFFF"/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71400AE-E6F4-8C0E-1CA5-ADBBB2309A76}"/>
                  </a:ext>
                </a:extLst>
              </p:cNvPr>
              <p:cNvGrpSpPr/>
              <p:nvPr/>
            </p:nvGrpSpPr>
            <p:grpSpPr>
              <a:xfrm>
                <a:off x="92589" y="4701283"/>
                <a:ext cx="3975910" cy="297652"/>
                <a:chOff x="50257" y="4706560"/>
                <a:chExt cx="4788917" cy="365193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3531EBD-B1BD-DD4F-1953-EFB53FE4E962}"/>
                    </a:ext>
                  </a:extLst>
                </p:cNvPr>
                <p:cNvGrpSpPr/>
                <p:nvPr/>
              </p:nvGrpSpPr>
              <p:grpSpPr>
                <a:xfrm>
                  <a:off x="50257" y="4706560"/>
                  <a:ext cx="4788917" cy="365193"/>
                  <a:chOff x="40033" y="1257773"/>
                  <a:chExt cx="4788917" cy="365193"/>
                </a:xfrm>
              </p:grpSpPr>
              <p:sp>
                <p:nvSpPr>
                  <p:cNvPr id="59" name="object 24">
                    <a:extLst>
                      <a:ext uri="{FF2B5EF4-FFF2-40B4-BE49-F238E27FC236}">
                        <a16:creationId xmlns:a16="http://schemas.microsoft.com/office/drawing/2014/main" id="{EFCD985F-18A0-5ED0-AB05-64A47592FC39}"/>
                      </a:ext>
                    </a:extLst>
                  </p:cNvPr>
                  <p:cNvSpPr/>
                  <p:nvPr/>
                </p:nvSpPr>
                <p:spPr>
                  <a:xfrm>
                    <a:off x="254983" y="1288560"/>
                    <a:ext cx="2176648" cy="297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5590" h="311150">
                        <a:moveTo>
                          <a:pt x="1443735" y="0"/>
                        </a:moveTo>
                        <a:lnTo>
                          <a:pt x="101600" y="0"/>
                        </a:lnTo>
                        <a:lnTo>
                          <a:pt x="62043" y="7979"/>
                        </a:lnTo>
                        <a:lnTo>
                          <a:pt x="29749" y="29733"/>
                        </a:lnTo>
                        <a:lnTo>
                          <a:pt x="7981" y="61989"/>
                        </a:lnTo>
                        <a:lnTo>
                          <a:pt x="0" y="101472"/>
                        </a:lnTo>
                        <a:lnTo>
                          <a:pt x="0" y="209295"/>
                        </a:lnTo>
                        <a:lnTo>
                          <a:pt x="7981" y="248852"/>
                        </a:lnTo>
                        <a:lnTo>
                          <a:pt x="29749" y="281146"/>
                        </a:lnTo>
                        <a:lnTo>
                          <a:pt x="62043" y="302914"/>
                        </a:lnTo>
                        <a:lnTo>
                          <a:pt x="101600" y="310895"/>
                        </a:lnTo>
                        <a:lnTo>
                          <a:pt x="1443735" y="310895"/>
                        </a:lnTo>
                        <a:lnTo>
                          <a:pt x="1483292" y="302914"/>
                        </a:lnTo>
                        <a:lnTo>
                          <a:pt x="1515586" y="281146"/>
                        </a:lnTo>
                        <a:lnTo>
                          <a:pt x="1537354" y="248852"/>
                        </a:lnTo>
                        <a:lnTo>
                          <a:pt x="1545335" y="209295"/>
                        </a:lnTo>
                        <a:lnTo>
                          <a:pt x="1545335" y="101472"/>
                        </a:lnTo>
                        <a:lnTo>
                          <a:pt x="1537354" y="61989"/>
                        </a:lnTo>
                        <a:lnTo>
                          <a:pt x="1515586" y="29733"/>
                        </a:lnTo>
                        <a:lnTo>
                          <a:pt x="1483292" y="7979"/>
                        </a:lnTo>
                        <a:lnTo>
                          <a:pt x="1443735" y="0"/>
                        </a:lnTo>
                        <a:close/>
                      </a:path>
                    </a:pathLst>
                  </a:custGeom>
                  <a:solidFill>
                    <a:srgbClr val="002E9E"/>
                  </a:solidFill>
                </p:spPr>
                <p:txBody>
                  <a:bodyPr wrap="square" lIns="0" tIns="0" rIns="0" bIns="0" rtlCol="0"/>
                  <a:lstStyle/>
                  <a:p>
                    <a:endParaRPr dirty="0"/>
                  </a:p>
                </p:txBody>
              </p: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C05456EB-AED6-2EF2-49B0-86C3F27F30BA}"/>
                      </a:ext>
                    </a:extLst>
                  </p:cNvPr>
                  <p:cNvGrpSpPr/>
                  <p:nvPr/>
                </p:nvGrpSpPr>
                <p:grpSpPr>
                  <a:xfrm>
                    <a:off x="40033" y="1257773"/>
                    <a:ext cx="4788917" cy="365193"/>
                    <a:chOff x="40033" y="1257773"/>
                    <a:chExt cx="4788917" cy="365193"/>
                  </a:xfrm>
                </p:grpSpPr>
                <p:sp>
                  <p:nvSpPr>
                    <p:cNvPr id="61" name="object 27">
                      <a:extLst>
                        <a:ext uri="{FF2B5EF4-FFF2-40B4-BE49-F238E27FC236}">
                          <a16:creationId xmlns:a16="http://schemas.microsoft.com/office/drawing/2014/main" id="{4761A87B-16F8-D0BC-C214-45ABE8F85B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388" y="1354960"/>
                      <a:ext cx="4214562" cy="177061"/>
                    </a:xfrm>
                    <a:prstGeom prst="rect">
                      <a:avLst/>
                    </a:prstGeom>
                  </p:spPr>
                  <p:txBody>
                    <a:bodyPr vert="horz" wrap="square" lIns="0" tIns="12700" rIns="0" bIns="0" rtlCol="0">
                      <a:spAutoFit/>
                    </a:bodyPr>
                    <a:lstStyle/>
                    <a:p>
                      <a:pPr marL="12700">
                        <a:spcBef>
                          <a:spcPts val="100"/>
                        </a:spcBef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KEY FEATURES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62" name="object 25">
                      <a:extLst>
                        <a:ext uri="{FF2B5EF4-FFF2-40B4-BE49-F238E27FC236}">
                          <a16:creationId xmlns:a16="http://schemas.microsoft.com/office/drawing/2014/main" id="{D50E2A6F-2990-ADC7-A7D2-A965BFDB0A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33" y="1257773"/>
                      <a:ext cx="446378" cy="3651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1004" h="393700">
                          <a:moveTo>
                            <a:pt x="210311" y="0"/>
                          </a:moveTo>
                          <a:lnTo>
                            <a:pt x="162072" y="5198"/>
                          </a:lnTo>
                          <a:lnTo>
                            <a:pt x="117798" y="20006"/>
                          </a:lnTo>
                          <a:lnTo>
                            <a:pt x="78750" y="43237"/>
                          </a:lnTo>
                          <a:lnTo>
                            <a:pt x="46186" y="73708"/>
                          </a:lnTo>
                          <a:lnTo>
                            <a:pt x="21367" y="110236"/>
                          </a:lnTo>
                          <a:lnTo>
                            <a:pt x="5551" y="151635"/>
                          </a:lnTo>
                          <a:lnTo>
                            <a:pt x="0" y="196723"/>
                          </a:lnTo>
                          <a:lnTo>
                            <a:pt x="5551" y="241803"/>
                          </a:lnTo>
                          <a:lnTo>
                            <a:pt x="21367" y="283184"/>
                          </a:lnTo>
                          <a:lnTo>
                            <a:pt x="46186" y="319687"/>
                          </a:lnTo>
                          <a:lnTo>
                            <a:pt x="78750" y="350131"/>
                          </a:lnTo>
                          <a:lnTo>
                            <a:pt x="117798" y="373338"/>
                          </a:lnTo>
                          <a:lnTo>
                            <a:pt x="162072" y="388127"/>
                          </a:lnTo>
                          <a:lnTo>
                            <a:pt x="210311" y="393319"/>
                          </a:lnTo>
                          <a:lnTo>
                            <a:pt x="258551" y="388127"/>
                          </a:lnTo>
                          <a:lnTo>
                            <a:pt x="302825" y="373338"/>
                          </a:lnTo>
                          <a:lnTo>
                            <a:pt x="341873" y="350131"/>
                          </a:lnTo>
                          <a:lnTo>
                            <a:pt x="374437" y="319687"/>
                          </a:lnTo>
                          <a:lnTo>
                            <a:pt x="399256" y="283184"/>
                          </a:lnTo>
                          <a:lnTo>
                            <a:pt x="415072" y="241803"/>
                          </a:lnTo>
                          <a:lnTo>
                            <a:pt x="420624" y="196723"/>
                          </a:lnTo>
                          <a:lnTo>
                            <a:pt x="415072" y="151635"/>
                          </a:lnTo>
                          <a:lnTo>
                            <a:pt x="399256" y="110236"/>
                          </a:lnTo>
                          <a:lnTo>
                            <a:pt x="374437" y="73708"/>
                          </a:lnTo>
                          <a:lnTo>
                            <a:pt x="341873" y="43237"/>
                          </a:lnTo>
                          <a:lnTo>
                            <a:pt x="302825" y="20006"/>
                          </a:lnTo>
                          <a:lnTo>
                            <a:pt x="258551" y="5198"/>
                          </a:lnTo>
                          <a:lnTo>
                            <a:pt x="21031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 dirty="0"/>
                    </a:p>
                  </p:txBody>
                </p:sp>
                <p:sp>
                  <p:nvSpPr>
                    <p:cNvPr id="15360" name="object 26">
                      <a:extLst>
                        <a:ext uri="{FF2B5EF4-FFF2-40B4-BE49-F238E27FC236}">
                          <a16:creationId xmlns:a16="http://schemas.microsoft.com/office/drawing/2014/main" id="{5C476485-C61B-72A3-0070-E6B9BD67F3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033" y="1278711"/>
                      <a:ext cx="446378" cy="314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9420" h="393700">
                          <a:moveTo>
                            <a:pt x="219455" y="0"/>
                          </a:moveTo>
                          <a:lnTo>
                            <a:pt x="169150" y="5198"/>
                          </a:lnTo>
                          <a:lnTo>
                            <a:pt x="122964" y="20006"/>
                          </a:lnTo>
                          <a:lnTo>
                            <a:pt x="82216" y="43237"/>
                          </a:lnTo>
                          <a:lnTo>
                            <a:pt x="48225" y="73708"/>
                          </a:lnTo>
                          <a:lnTo>
                            <a:pt x="22313" y="110236"/>
                          </a:lnTo>
                          <a:lnTo>
                            <a:pt x="5798" y="151635"/>
                          </a:lnTo>
                          <a:lnTo>
                            <a:pt x="0" y="196723"/>
                          </a:lnTo>
                          <a:lnTo>
                            <a:pt x="5798" y="241803"/>
                          </a:lnTo>
                          <a:lnTo>
                            <a:pt x="22313" y="283184"/>
                          </a:lnTo>
                          <a:lnTo>
                            <a:pt x="48225" y="319687"/>
                          </a:lnTo>
                          <a:lnTo>
                            <a:pt x="82216" y="350131"/>
                          </a:lnTo>
                          <a:lnTo>
                            <a:pt x="122964" y="373338"/>
                          </a:lnTo>
                          <a:lnTo>
                            <a:pt x="169150" y="388127"/>
                          </a:lnTo>
                          <a:lnTo>
                            <a:pt x="219455" y="393319"/>
                          </a:lnTo>
                          <a:lnTo>
                            <a:pt x="269761" y="388127"/>
                          </a:lnTo>
                          <a:lnTo>
                            <a:pt x="315947" y="373338"/>
                          </a:lnTo>
                          <a:lnTo>
                            <a:pt x="356695" y="350131"/>
                          </a:lnTo>
                          <a:lnTo>
                            <a:pt x="390686" y="319687"/>
                          </a:lnTo>
                          <a:lnTo>
                            <a:pt x="416598" y="283184"/>
                          </a:lnTo>
                          <a:lnTo>
                            <a:pt x="433113" y="241803"/>
                          </a:lnTo>
                          <a:lnTo>
                            <a:pt x="438912" y="196723"/>
                          </a:lnTo>
                          <a:lnTo>
                            <a:pt x="433113" y="151635"/>
                          </a:lnTo>
                          <a:lnTo>
                            <a:pt x="416598" y="110236"/>
                          </a:lnTo>
                          <a:lnTo>
                            <a:pt x="390686" y="73708"/>
                          </a:lnTo>
                          <a:lnTo>
                            <a:pt x="356695" y="43237"/>
                          </a:lnTo>
                          <a:lnTo>
                            <a:pt x="315947" y="20006"/>
                          </a:lnTo>
                          <a:lnTo>
                            <a:pt x="269761" y="5198"/>
                          </a:lnTo>
                          <a:lnTo>
                            <a:pt x="219455" y="0"/>
                          </a:lnTo>
                          <a:close/>
                        </a:path>
                      </a:pathLst>
                    </a:custGeom>
                    <a:solidFill>
                      <a:srgbClr val="002E9E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</p:grpSp>
            </p:grpSp>
            <p:pic>
              <p:nvPicPr>
                <p:cNvPr id="15370" name="object 142">
                  <a:extLst>
                    <a:ext uri="{FF2B5EF4-FFF2-40B4-BE49-F238E27FC236}">
                      <a16:creationId xmlns:a16="http://schemas.microsoft.com/office/drawing/2014/main" id="{EB7B5334-85CE-3A50-583F-A069441927AD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5257" y="4724790"/>
                  <a:ext cx="342602" cy="268383"/>
                </a:xfrm>
                <a:prstGeom prst="rect">
                  <a:avLst/>
                </a:prstGeom>
              </p:spPr>
            </p:pic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899D81-D241-C329-5295-B5DAB98BFB3D}"/>
                </a:ext>
              </a:extLst>
            </p:cNvPr>
            <p:cNvSpPr txBox="1"/>
            <p:nvPr/>
          </p:nvSpPr>
          <p:spPr>
            <a:xfrm>
              <a:off x="162044" y="4865656"/>
              <a:ext cx="6870660" cy="2072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solidFill>
                    <a:srgbClr val="00B050"/>
                  </a:solidFill>
                </a:rPr>
                <a:t>✔</a:t>
              </a:r>
              <a:r>
                <a:rPr lang="en-IN" sz="1400" dirty="0"/>
                <a:t> </a:t>
              </a:r>
              <a:r>
                <a:rPr lang="en-IN" sz="1400" b="1" dirty="0"/>
                <a:t>Smart Intake (complaint → case in seconds): </a:t>
              </a:r>
              <a:r>
                <a:rPr lang="en-IN" sz="1400" dirty="0"/>
                <a:t>reads Hinglish, checksum-verifies every wallet, masks phones &amp; UPI IDs at the door</a:t>
              </a:r>
            </a:p>
            <a:p>
              <a:r>
                <a:rPr lang="en-IN" sz="1400" dirty="0">
                  <a:solidFill>
                    <a:srgbClr val="00B050"/>
                  </a:solidFill>
                </a:rPr>
                <a:t>✔</a:t>
              </a:r>
              <a:r>
                <a:rPr lang="en-IN" sz="1400" dirty="0"/>
                <a:t> </a:t>
              </a:r>
              <a:r>
                <a:rPr lang="en-IN" sz="1400" b="1" dirty="0"/>
                <a:t>SAHYOG National Memory (India never forgets a wallet): </a:t>
              </a:r>
              <a:r>
                <a:rPr lang="en-IN" sz="1400" dirty="0"/>
                <a:t>the 2nd complaint from any state is matched instantly, with who saw it first</a:t>
              </a:r>
            </a:p>
            <a:p>
              <a:r>
                <a:rPr lang="en-IN" sz="1400" dirty="0">
                  <a:solidFill>
                    <a:srgbClr val="00B050"/>
                  </a:solidFill>
                </a:rPr>
                <a:t>✔</a:t>
              </a:r>
              <a:r>
                <a:rPr lang="en-IN" sz="1400" dirty="0"/>
                <a:t> </a:t>
              </a:r>
              <a:r>
                <a:rPr lang="en-IN" sz="1400" b="1" dirty="0"/>
                <a:t>Golden-Hour Queue (work the case you can still save):</a:t>
              </a:r>
              <a:r>
                <a:rPr lang="en-IN" sz="1400" dirty="0"/>
                <a:t> ranked by minutes left before the money reaches an exchange</a:t>
              </a:r>
            </a:p>
            <a:p>
              <a:r>
                <a:rPr lang="en-IN" sz="1400" dirty="0">
                  <a:solidFill>
                    <a:srgbClr val="00B050"/>
                  </a:solidFill>
                </a:rPr>
                <a:t>✔</a:t>
              </a:r>
              <a:r>
                <a:rPr lang="en-IN" sz="1400" dirty="0"/>
                <a:t> </a:t>
              </a:r>
              <a:r>
                <a:rPr lang="en-IN" sz="1400" b="1" dirty="0"/>
                <a:t>Glass-Box Attribution: </a:t>
              </a:r>
              <a:r>
                <a:rPr lang="en-IN" sz="1400" dirty="0"/>
                <a:t>every VASP verdict shows its evidence, weights and maths, plus “what would flip the verdict”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5B8E00-1308-D230-5920-AAF041B94916}"/>
              </a:ext>
            </a:extLst>
          </p:cNvPr>
          <p:cNvGrpSpPr/>
          <p:nvPr/>
        </p:nvGrpSpPr>
        <p:grpSpPr>
          <a:xfrm>
            <a:off x="6204427" y="3926047"/>
            <a:ext cx="5881218" cy="2591070"/>
            <a:chOff x="101471" y="4476500"/>
            <a:chExt cx="6879722" cy="259107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9DA3912-869F-7DDA-08B0-B6C27E4A4288}"/>
                </a:ext>
              </a:extLst>
            </p:cNvPr>
            <p:cNvGrpSpPr/>
            <p:nvPr/>
          </p:nvGrpSpPr>
          <p:grpSpPr>
            <a:xfrm>
              <a:off x="101471" y="4476500"/>
              <a:ext cx="6862008" cy="2553577"/>
              <a:chOff x="101471" y="4678051"/>
              <a:chExt cx="6953360" cy="2023698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45B02283-DE2F-F7C4-0C20-05530521AE43}"/>
                  </a:ext>
                </a:extLst>
              </p:cNvPr>
              <p:cNvSpPr/>
              <p:nvPr/>
            </p:nvSpPr>
            <p:spPr>
              <a:xfrm>
                <a:off x="130610" y="4837495"/>
                <a:ext cx="6924221" cy="1864254"/>
              </a:xfrm>
              <a:prstGeom prst="roundRect">
                <a:avLst>
                  <a:gd name="adj" fmla="val 5399"/>
                </a:avLst>
              </a:prstGeom>
              <a:solidFill>
                <a:srgbClr val="FFFFFF"/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3B5323A-F1E0-ED41-272A-A3335F771657}"/>
                  </a:ext>
                </a:extLst>
              </p:cNvPr>
              <p:cNvGrpSpPr/>
              <p:nvPr/>
            </p:nvGrpSpPr>
            <p:grpSpPr>
              <a:xfrm>
                <a:off x="101471" y="4678051"/>
                <a:ext cx="3967028" cy="320887"/>
                <a:chOff x="60955" y="4678053"/>
                <a:chExt cx="4778219" cy="39370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675BA463-41D6-2C3E-4F54-DEA19F66FBE3}"/>
                    </a:ext>
                  </a:extLst>
                </p:cNvPr>
                <p:cNvGrpSpPr/>
                <p:nvPr/>
              </p:nvGrpSpPr>
              <p:grpSpPr>
                <a:xfrm>
                  <a:off x="60955" y="4678053"/>
                  <a:ext cx="4778219" cy="393700"/>
                  <a:chOff x="50731" y="1229266"/>
                  <a:chExt cx="4778219" cy="393700"/>
                </a:xfrm>
              </p:grpSpPr>
              <p:sp>
                <p:nvSpPr>
                  <p:cNvPr id="53" name="object 24">
                    <a:extLst>
                      <a:ext uri="{FF2B5EF4-FFF2-40B4-BE49-F238E27FC236}">
                        <a16:creationId xmlns:a16="http://schemas.microsoft.com/office/drawing/2014/main" id="{A438B4B9-170C-9DB7-5D4D-FD871B483734}"/>
                      </a:ext>
                    </a:extLst>
                  </p:cNvPr>
                  <p:cNvSpPr/>
                  <p:nvPr/>
                </p:nvSpPr>
                <p:spPr>
                  <a:xfrm>
                    <a:off x="254981" y="1288560"/>
                    <a:ext cx="3823812" cy="311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5590" h="311150">
                        <a:moveTo>
                          <a:pt x="1443735" y="0"/>
                        </a:moveTo>
                        <a:lnTo>
                          <a:pt x="101600" y="0"/>
                        </a:lnTo>
                        <a:lnTo>
                          <a:pt x="62043" y="7979"/>
                        </a:lnTo>
                        <a:lnTo>
                          <a:pt x="29749" y="29733"/>
                        </a:lnTo>
                        <a:lnTo>
                          <a:pt x="7981" y="61989"/>
                        </a:lnTo>
                        <a:lnTo>
                          <a:pt x="0" y="101472"/>
                        </a:lnTo>
                        <a:lnTo>
                          <a:pt x="0" y="209295"/>
                        </a:lnTo>
                        <a:lnTo>
                          <a:pt x="7981" y="248852"/>
                        </a:lnTo>
                        <a:lnTo>
                          <a:pt x="29749" y="281146"/>
                        </a:lnTo>
                        <a:lnTo>
                          <a:pt x="62043" y="302914"/>
                        </a:lnTo>
                        <a:lnTo>
                          <a:pt x="101600" y="310895"/>
                        </a:lnTo>
                        <a:lnTo>
                          <a:pt x="1443735" y="310895"/>
                        </a:lnTo>
                        <a:lnTo>
                          <a:pt x="1483292" y="302914"/>
                        </a:lnTo>
                        <a:lnTo>
                          <a:pt x="1515586" y="281146"/>
                        </a:lnTo>
                        <a:lnTo>
                          <a:pt x="1537354" y="248852"/>
                        </a:lnTo>
                        <a:lnTo>
                          <a:pt x="1545335" y="209295"/>
                        </a:lnTo>
                        <a:lnTo>
                          <a:pt x="1545335" y="101472"/>
                        </a:lnTo>
                        <a:lnTo>
                          <a:pt x="1537354" y="61989"/>
                        </a:lnTo>
                        <a:lnTo>
                          <a:pt x="1515586" y="29733"/>
                        </a:lnTo>
                        <a:lnTo>
                          <a:pt x="1483292" y="7979"/>
                        </a:lnTo>
                        <a:lnTo>
                          <a:pt x="1443735" y="0"/>
                        </a:lnTo>
                        <a:close/>
                      </a:path>
                    </a:pathLst>
                  </a:custGeom>
                  <a:solidFill>
                    <a:srgbClr val="002E9E"/>
                  </a:solidFill>
                </p:spPr>
                <p:txBody>
                  <a:bodyPr wrap="square" lIns="0" tIns="0" rIns="0" bIns="0" rtlCol="0"/>
                  <a:lstStyle/>
                  <a:p>
                    <a:endParaRPr dirty="0"/>
                  </a:p>
                </p:txBody>
              </p: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AA8B36A7-FDFB-9932-B1AE-4C0A61530404}"/>
                      </a:ext>
                    </a:extLst>
                  </p:cNvPr>
                  <p:cNvGrpSpPr/>
                  <p:nvPr/>
                </p:nvGrpSpPr>
                <p:grpSpPr>
                  <a:xfrm>
                    <a:off x="50731" y="1229266"/>
                    <a:ext cx="4778219" cy="393700"/>
                    <a:chOff x="50731" y="1229266"/>
                    <a:chExt cx="4778219" cy="393700"/>
                  </a:xfrm>
                </p:grpSpPr>
                <p:sp>
                  <p:nvSpPr>
                    <p:cNvPr id="56" name="object 27">
                      <a:extLst>
                        <a:ext uri="{FF2B5EF4-FFF2-40B4-BE49-F238E27FC236}">
                          <a16:creationId xmlns:a16="http://schemas.microsoft.com/office/drawing/2014/main" id="{61CA9764-BED7-4AA3-8825-49630B053E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388" y="1354960"/>
                      <a:ext cx="4214562" cy="177061"/>
                    </a:xfrm>
                    <a:prstGeom prst="rect">
                      <a:avLst/>
                    </a:prstGeom>
                  </p:spPr>
                  <p:txBody>
                    <a:bodyPr vert="horz" wrap="square" lIns="0" tIns="12700" rIns="0" bIns="0" rtlCol="0">
                      <a:spAutoFit/>
                    </a:bodyPr>
                    <a:lstStyle/>
                    <a:p>
                      <a:pPr marL="12700">
                        <a:spcBef>
                          <a:spcPts val="100"/>
                        </a:spcBef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INNOVATION AND UNIQUENESS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63" name="object 25">
                      <a:extLst>
                        <a:ext uri="{FF2B5EF4-FFF2-40B4-BE49-F238E27FC236}">
                          <a16:creationId xmlns:a16="http://schemas.microsoft.com/office/drawing/2014/main" id="{160C8A9E-79D3-CA69-2E1B-1A6F1A912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679" y="1229266"/>
                      <a:ext cx="421005" cy="393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1004" h="393700">
                          <a:moveTo>
                            <a:pt x="210311" y="0"/>
                          </a:moveTo>
                          <a:lnTo>
                            <a:pt x="162072" y="5198"/>
                          </a:lnTo>
                          <a:lnTo>
                            <a:pt x="117798" y="20006"/>
                          </a:lnTo>
                          <a:lnTo>
                            <a:pt x="78750" y="43237"/>
                          </a:lnTo>
                          <a:lnTo>
                            <a:pt x="46186" y="73708"/>
                          </a:lnTo>
                          <a:lnTo>
                            <a:pt x="21367" y="110236"/>
                          </a:lnTo>
                          <a:lnTo>
                            <a:pt x="5551" y="151635"/>
                          </a:lnTo>
                          <a:lnTo>
                            <a:pt x="0" y="196723"/>
                          </a:lnTo>
                          <a:lnTo>
                            <a:pt x="5551" y="241803"/>
                          </a:lnTo>
                          <a:lnTo>
                            <a:pt x="21367" y="283184"/>
                          </a:lnTo>
                          <a:lnTo>
                            <a:pt x="46186" y="319687"/>
                          </a:lnTo>
                          <a:lnTo>
                            <a:pt x="78750" y="350131"/>
                          </a:lnTo>
                          <a:lnTo>
                            <a:pt x="117798" y="373338"/>
                          </a:lnTo>
                          <a:lnTo>
                            <a:pt x="162072" y="388127"/>
                          </a:lnTo>
                          <a:lnTo>
                            <a:pt x="210311" y="393319"/>
                          </a:lnTo>
                          <a:lnTo>
                            <a:pt x="258551" y="388127"/>
                          </a:lnTo>
                          <a:lnTo>
                            <a:pt x="302825" y="373338"/>
                          </a:lnTo>
                          <a:lnTo>
                            <a:pt x="341873" y="350131"/>
                          </a:lnTo>
                          <a:lnTo>
                            <a:pt x="374437" y="319687"/>
                          </a:lnTo>
                          <a:lnTo>
                            <a:pt x="399256" y="283184"/>
                          </a:lnTo>
                          <a:lnTo>
                            <a:pt x="415072" y="241803"/>
                          </a:lnTo>
                          <a:lnTo>
                            <a:pt x="420624" y="196723"/>
                          </a:lnTo>
                          <a:lnTo>
                            <a:pt x="415072" y="151635"/>
                          </a:lnTo>
                          <a:lnTo>
                            <a:pt x="399256" y="110236"/>
                          </a:lnTo>
                          <a:lnTo>
                            <a:pt x="374437" y="73708"/>
                          </a:lnTo>
                          <a:lnTo>
                            <a:pt x="341873" y="43237"/>
                          </a:lnTo>
                          <a:lnTo>
                            <a:pt x="302825" y="20006"/>
                          </a:lnTo>
                          <a:lnTo>
                            <a:pt x="258551" y="5198"/>
                          </a:lnTo>
                          <a:lnTo>
                            <a:pt x="21031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  <p:sp>
                  <p:nvSpPr>
                    <p:cNvPr id="15361" name="object 26">
                      <a:extLst>
                        <a:ext uri="{FF2B5EF4-FFF2-40B4-BE49-F238E27FC236}">
                          <a16:creationId xmlns:a16="http://schemas.microsoft.com/office/drawing/2014/main" id="{877E5A58-5F07-9920-E82F-71E05FB5B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731" y="1243824"/>
                      <a:ext cx="439420" cy="362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9420" h="393700">
                          <a:moveTo>
                            <a:pt x="219455" y="0"/>
                          </a:moveTo>
                          <a:lnTo>
                            <a:pt x="169150" y="5198"/>
                          </a:lnTo>
                          <a:lnTo>
                            <a:pt x="122964" y="20006"/>
                          </a:lnTo>
                          <a:lnTo>
                            <a:pt x="82216" y="43237"/>
                          </a:lnTo>
                          <a:lnTo>
                            <a:pt x="48225" y="73708"/>
                          </a:lnTo>
                          <a:lnTo>
                            <a:pt x="22313" y="110236"/>
                          </a:lnTo>
                          <a:lnTo>
                            <a:pt x="5798" y="151635"/>
                          </a:lnTo>
                          <a:lnTo>
                            <a:pt x="0" y="196723"/>
                          </a:lnTo>
                          <a:lnTo>
                            <a:pt x="5798" y="241803"/>
                          </a:lnTo>
                          <a:lnTo>
                            <a:pt x="22313" y="283184"/>
                          </a:lnTo>
                          <a:lnTo>
                            <a:pt x="48225" y="319687"/>
                          </a:lnTo>
                          <a:lnTo>
                            <a:pt x="82216" y="350131"/>
                          </a:lnTo>
                          <a:lnTo>
                            <a:pt x="122964" y="373338"/>
                          </a:lnTo>
                          <a:lnTo>
                            <a:pt x="169150" y="388127"/>
                          </a:lnTo>
                          <a:lnTo>
                            <a:pt x="219455" y="393319"/>
                          </a:lnTo>
                          <a:lnTo>
                            <a:pt x="269761" y="388127"/>
                          </a:lnTo>
                          <a:lnTo>
                            <a:pt x="315947" y="373338"/>
                          </a:lnTo>
                          <a:lnTo>
                            <a:pt x="356695" y="350131"/>
                          </a:lnTo>
                          <a:lnTo>
                            <a:pt x="390686" y="319687"/>
                          </a:lnTo>
                          <a:lnTo>
                            <a:pt x="416598" y="283184"/>
                          </a:lnTo>
                          <a:lnTo>
                            <a:pt x="433113" y="241803"/>
                          </a:lnTo>
                          <a:lnTo>
                            <a:pt x="438912" y="196723"/>
                          </a:lnTo>
                          <a:lnTo>
                            <a:pt x="433113" y="151635"/>
                          </a:lnTo>
                          <a:lnTo>
                            <a:pt x="416598" y="110236"/>
                          </a:lnTo>
                          <a:lnTo>
                            <a:pt x="390686" y="73708"/>
                          </a:lnTo>
                          <a:lnTo>
                            <a:pt x="356695" y="43237"/>
                          </a:lnTo>
                          <a:lnTo>
                            <a:pt x="315947" y="20006"/>
                          </a:lnTo>
                          <a:lnTo>
                            <a:pt x="269761" y="5198"/>
                          </a:lnTo>
                          <a:lnTo>
                            <a:pt x="219455" y="0"/>
                          </a:lnTo>
                          <a:close/>
                        </a:path>
                      </a:pathLst>
                    </a:custGeom>
                    <a:solidFill>
                      <a:srgbClr val="002E9E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 dirty="0"/>
                    </a:p>
                  </p:txBody>
                </p:sp>
              </p:grpSp>
            </p:grpSp>
            <p:pic>
              <p:nvPicPr>
                <p:cNvPr id="51" name="object 142">
                  <a:extLst>
                    <a:ext uri="{FF2B5EF4-FFF2-40B4-BE49-F238E27FC236}">
                      <a16:creationId xmlns:a16="http://schemas.microsoft.com/office/drawing/2014/main" id="{07CE5889-8AED-B957-E93B-CCDD55B0FB8D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106857" y="4705477"/>
                  <a:ext cx="347472" cy="293141"/>
                </a:xfrm>
                <a:prstGeom prst="rect">
                  <a:avLst/>
                </a:prstGeom>
              </p:spPr>
            </p:pic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4A08B6D-53B9-4447-86F1-9199DC4E01FC}"/>
                </a:ext>
              </a:extLst>
            </p:cNvPr>
            <p:cNvSpPr txBox="1"/>
            <p:nvPr/>
          </p:nvSpPr>
          <p:spPr>
            <a:xfrm>
              <a:off x="162376" y="4913134"/>
              <a:ext cx="6818817" cy="2154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340" dirty="0">
                  <a:solidFill>
                    <a:srgbClr val="FF0000"/>
                  </a:solidFill>
                </a:rPr>
                <a:t>✔ </a:t>
              </a:r>
              <a:r>
                <a:rPr lang="en-IN" sz="1340" b="1" dirty="0"/>
                <a:t>Pre-emptive Freeze: </a:t>
              </a:r>
              <a:r>
                <a:rPr lang="en-IN" sz="1340" dirty="0"/>
                <a:t>predicts the gang's next exchange and alerts it before the money lands.</a:t>
              </a:r>
            </a:p>
            <a:p>
              <a:r>
                <a:rPr lang="en-IN" sz="1340" dirty="0">
                  <a:solidFill>
                    <a:srgbClr val="FF0000"/>
                  </a:solidFill>
                </a:rPr>
                <a:t>✔</a:t>
              </a:r>
              <a:r>
                <a:rPr lang="en-IN" sz="1340" b="1" dirty="0"/>
                <a:t> Rupee Exit Trail:</a:t>
              </a:r>
              <a:r>
                <a:rPr lang="en-IN" sz="1340" dirty="0"/>
                <a:t> follows money out of crypto into UPI mule accounts.</a:t>
              </a:r>
            </a:p>
            <a:p>
              <a:r>
                <a:rPr lang="en-IN" sz="1340" dirty="0">
                  <a:solidFill>
                    <a:srgbClr val="FF0000"/>
                  </a:solidFill>
                </a:rPr>
                <a:t>✔</a:t>
              </a:r>
              <a:r>
                <a:rPr lang="en-IN" sz="1340" b="1" dirty="0"/>
                <a:t> Cold-Trail Re-acquisition: </a:t>
              </a:r>
              <a:r>
                <a:rPr lang="en-IN" sz="1340" dirty="0"/>
                <a:t>operator habits re-find money lost in a mixer.</a:t>
              </a:r>
            </a:p>
            <a:p>
              <a:r>
                <a:rPr lang="en-IN" sz="1340" dirty="0">
                  <a:solidFill>
                    <a:srgbClr val="FF0000"/>
                  </a:solidFill>
                </a:rPr>
                <a:t>✔</a:t>
              </a:r>
              <a:r>
                <a:rPr lang="en-IN" sz="1340" b="1" dirty="0"/>
                <a:t> Cross-Border Autopilot: </a:t>
              </a:r>
              <a:r>
                <a:rPr lang="en-IN" sz="1340" dirty="0"/>
                <a:t>foreign VASP? Auto-picks MLAT, INTERPOL or FIU-to-FIU.</a:t>
              </a:r>
            </a:p>
            <a:p>
              <a:r>
                <a:rPr lang="en-IN" sz="1340" dirty="0">
                  <a:solidFill>
                    <a:srgbClr val="FF0000"/>
                  </a:solidFill>
                </a:rPr>
                <a:t>✔</a:t>
              </a:r>
              <a:r>
                <a:rPr lang="en-IN" sz="1340" b="1" dirty="0"/>
                <a:t> Sanctions-Proximity Radar: </a:t>
              </a:r>
              <a:r>
                <a:rPr lang="en-IN" sz="1340" dirty="0"/>
                <a:t>flags wallets “one shell away” from sanctions.</a:t>
              </a:r>
              <a:endParaRPr lang="en-IN" sz="1340" b="1" dirty="0"/>
            </a:p>
            <a:p>
              <a:r>
                <a:rPr lang="en-IN" sz="1340" dirty="0">
                  <a:solidFill>
                    <a:srgbClr val="FF0000"/>
                  </a:solidFill>
                </a:rPr>
                <a:t>✔</a:t>
              </a:r>
              <a:r>
                <a:rPr lang="en-IN" sz="1340" b="1" dirty="0"/>
                <a:t> We Red-Team Ourselves: </a:t>
              </a:r>
              <a:r>
                <a:rPr lang="en-IN" sz="1340" dirty="0"/>
                <a:t>7 laundering tricks vs our own engine; misses published.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4DA93A2-767A-825B-7C0D-469ADC745C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2665" y="4436880"/>
            <a:ext cx="5953335" cy="2011121"/>
          </a:xfrm>
          <a:prstGeom prst="roundRect">
            <a:avLst>
              <a:gd name="adj" fmla="val 4632"/>
            </a:avLst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36342"/>
            <a:ext cx="12191999" cy="22165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1804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6611" y="6538914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7276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3967" y="98821"/>
            <a:ext cx="1328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TROVER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27050C-E35D-6E51-6011-80C44AD03A20}"/>
              </a:ext>
            </a:extLst>
          </p:cNvPr>
          <p:cNvSpPr/>
          <p:nvPr/>
        </p:nvSpPr>
        <p:spPr>
          <a:xfrm>
            <a:off x="6840071" y="4231341"/>
            <a:ext cx="726141" cy="5827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0EF60-49F8-CDB6-BE65-E2549E96B93C}"/>
              </a:ext>
            </a:extLst>
          </p:cNvPr>
          <p:cNvSpPr/>
          <p:nvPr/>
        </p:nvSpPr>
        <p:spPr>
          <a:xfrm>
            <a:off x="7355541" y="4456050"/>
            <a:ext cx="726141" cy="2540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1CB85D08-92F5-3950-621E-17574A31E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9792" y="1193656"/>
            <a:ext cx="26180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 to be used</a:t>
            </a:r>
          </a:p>
        </p:txBody>
      </p:sp>
      <p:grpSp>
        <p:nvGrpSpPr>
          <p:cNvPr id="17625" name="Group 17624">
            <a:extLst>
              <a:ext uri="{FF2B5EF4-FFF2-40B4-BE49-F238E27FC236}">
                <a16:creationId xmlns:a16="http://schemas.microsoft.com/office/drawing/2014/main" id="{99711D2F-97DE-961C-9B95-219B691F44EC}"/>
              </a:ext>
            </a:extLst>
          </p:cNvPr>
          <p:cNvGrpSpPr/>
          <p:nvPr/>
        </p:nvGrpSpPr>
        <p:grpSpPr>
          <a:xfrm>
            <a:off x="9236143" y="1602076"/>
            <a:ext cx="2911846" cy="3575604"/>
            <a:chOff x="9185136" y="1510748"/>
            <a:chExt cx="2926574" cy="3575604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A39C109-180A-4764-5F4A-D60D359A349F}"/>
                </a:ext>
              </a:extLst>
            </p:cNvPr>
            <p:cNvSpPr/>
            <p:nvPr/>
          </p:nvSpPr>
          <p:spPr>
            <a:xfrm>
              <a:off x="9185136" y="1510748"/>
              <a:ext cx="2844800" cy="3575604"/>
            </a:xfrm>
            <a:prstGeom prst="roundRect">
              <a:avLst>
                <a:gd name="adj" fmla="val 2638"/>
              </a:avLst>
            </a:prstGeom>
            <a:solidFill>
              <a:srgbClr val="EBF5F9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E5632AE-4AC8-7E7D-1B23-C8F97C7C859C}"/>
                </a:ext>
              </a:extLst>
            </p:cNvPr>
            <p:cNvCxnSpPr>
              <a:cxnSpLocks/>
            </p:cNvCxnSpPr>
            <p:nvPr/>
          </p:nvCxnSpPr>
          <p:spPr>
            <a:xfrm>
              <a:off x="9277134" y="2098934"/>
              <a:ext cx="2631315" cy="0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E360285-3748-6807-617E-BC9E54EB692A}"/>
                </a:ext>
              </a:extLst>
            </p:cNvPr>
            <p:cNvCxnSpPr>
              <a:cxnSpLocks/>
            </p:cNvCxnSpPr>
            <p:nvPr/>
          </p:nvCxnSpPr>
          <p:spPr>
            <a:xfrm>
              <a:off x="9299359" y="3281858"/>
              <a:ext cx="2631315" cy="0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1C3797-AD75-4435-E5B2-78195035C09F}"/>
                </a:ext>
              </a:extLst>
            </p:cNvPr>
            <p:cNvCxnSpPr>
              <a:cxnSpLocks/>
            </p:cNvCxnSpPr>
            <p:nvPr/>
          </p:nvCxnSpPr>
          <p:spPr>
            <a:xfrm>
              <a:off x="9299359" y="3847281"/>
              <a:ext cx="2631315" cy="3973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2A4F79C-8FE1-6702-3044-66806172BB16}"/>
                </a:ext>
              </a:extLst>
            </p:cNvPr>
            <p:cNvCxnSpPr>
              <a:cxnSpLocks/>
            </p:cNvCxnSpPr>
            <p:nvPr/>
          </p:nvCxnSpPr>
          <p:spPr>
            <a:xfrm>
              <a:off x="9299359" y="2645364"/>
              <a:ext cx="2631315" cy="0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4DE2C5F-A3F9-A6C5-AED2-CD736C8EB1EB}"/>
                </a:ext>
              </a:extLst>
            </p:cNvPr>
            <p:cNvCxnSpPr>
              <a:cxnSpLocks/>
            </p:cNvCxnSpPr>
            <p:nvPr/>
          </p:nvCxnSpPr>
          <p:spPr>
            <a:xfrm>
              <a:off x="9299359" y="4537564"/>
              <a:ext cx="2631315" cy="0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5D17A7A-BB65-34F3-581B-B9D8152CFCAF}"/>
                </a:ext>
              </a:extLst>
            </p:cNvPr>
            <p:cNvGrpSpPr/>
            <p:nvPr/>
          </p:nvGrpSpPr>
          <p:grpSpPr>
            <a:xfrm>
              <a:off x="9277134" y="1660352"/>
              <a:ext cx="2834576" cy="3285667"/>
              <a:chOff x="447528" y="1718940"/>
              <a:chExt cx="4540954" cy="3285667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095517-56F3-05C9-38A9-AAD7C2C0C2E1}"/>
                  </a:ext>
                </a:extLst>
              </p:cNvPr>
              <p:cNvSpPr txBox="1"/>
              <p:nvPr/>
            </p:nvSpPr>
            <p:spPr>
              <a:xfrm>
                <a:off x="447528" y="4666053"/>
                <a:ext cx="421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Deployment:</a:t>
                </a:r>
                <a:r>
                  <a:rPr lang="en-IN" sz="1600" dirty="0"/>
                  <a:t> </a:t>
                </a:r>
                <a:r>
                  <a:rPr lang="en-IN" sz="1400" dirty="0"/>
                  <a:t>Docker Compose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604832E-5713-244C-C903-03FF61DA0D91}"/>
                  </a:ext>
                </a:extLst>
              </p:cNvPr>
              <p:cNvSpPr txBox="1"/>
              <p:nvPr/>
            </p:nvSpPr>
            <p:spPr>
              <a:xfrm>
                <a:off x="586327" y="1718940"/>
                <a:ext cx="4402155" cy="43858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1600" b="1" dirty="0"/>
                  <a:t>Backend:</a:t>
                </a:r>
                <a:r>
                  <a:rPr lang="en-IN" sz="1600" dirty="0"/>
                  <a:t> </a:t>
                </a:r>
                <a:r>
                  <a:rPr lang="en-IN" sz="1400" dirty="0"/>
                  <a:t>Python, FastAPI, PostgreSQL, Redis, Celery</a:t>
                </a:r>
                <a:endParaRPr sz="1400" b="0" i="0" dirty="0">
                  <a:solidFill>
                    <a:srgbClr val="393F45"/>
                  </a:solidFill>
                  <a:latin typeface="Calibri"/>
                </a:endParaRPr>
              </a:p>
            </p:txBody>
          </p:sp>
          <p:sp>
            <p:nvSpPr>
              <p:cNvPr id="17408" name="TextBox 17407">
                <a:extLst>
                  <a:ext uri="{FF2B5EF4-FFF2-40B4-BE49-F238E27FC236}">
                    <a16:creationId xmlns:a16="http://schemas.microsoft.com/office/drawing/2014/main" id="{71DC9073-EB24-1CDD-785D-6B7DB07C45AD}"/>
                  </a:ext>
                </a:extLst>
              </p:cNvPr>
              <p:cNvSpPr txBox="1"/>
              <p:nvPr/>
            </p:nvSpPr>
            <p:spPr>
              <a:xfrm>
                <a:off x="567735" y="2265370"/>
                <a:ext cx="4130730" cy="43858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1600" b="1" dirty="0"/>
                  <a:t>Graph &amp; Detection:</a:t>
                </a:r>
                <a:r>
                  <a:rPr lang="en-IN" sz="1600" dirty="0"/>
                  <a:t> </a:t>
                </a:r>
                <a:r>
                  <a:rPr lang="en-IN" sz="1400" dirty="0" err="1"/>
                  <a:t>Rustworkx, Union-Find, BFS, risk diffusion</a:t>
                </a:r>
                <a:endParaRPr sz="1400" b="0" i="0" dirty="0">
                  <a:solidFill>
                    <a:srgbClr val="393F45"/>
                  </a:solidFill>
                  <a:latin typeface="Calibri"/>
                </a:endParaRPr>
              </a:p>
            </p:txBody>
          </p:sp>
          <p:sp>
            <p:nvSpPr>
              <p:cNvPr id="17411" name="TextBox 17410">
                <a:extLst>
                  <a:ext uri="{FF2B5EF4-FFF2-40B4-BE49-F238E27FC236}">
                    <a16:creationId xmlns:a16="http://schemas.microsoft.com/office/drawing/2014/main" id="{97A6DAC4-2FEA-C185-E2DD-03B4E5B7AAC5}"/>
                  </a:ext>
                </a:extLst>
              </p:cNvPr>
              <p:cNvSpPr txBox="1"/>
              <p:nvPr/>
            </p:nvSpPr>
            <p:spPr>
              <a:xfrm>
                <a:off x="567735" y="2821359"/>
                <a:ext cx="3843859" cy="43858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1600" b="1" dirty="0"/>
                  <a:t>Machine Learning:</a:t>
                </a:r>
                <a:r>
                  <a:rPr lang="en-IN" sz="1600" dirty="0"/>
                  <a:t> </a:t>
                </a:r>
                <a:r>
                  <a:rPr lang="en-IN" sz="1400" dirty="0" err="1"/>
                  <a:t>LightGBM, SHAP, PyTorch Geometric</a:t>
                </a:r>
                <a:endParaRPr sz="1400" b="0" i="0" dirty="0">
                  <a:solidFill>
                    <a:srgbClr val="393F45"/>
                  </a:solidFill>
                  <a:latin typeface="Calibri"/>
                </a:endParaRPr>
              </a:p>
            </p:txBody>
          </p:sp>
          <p:sp>
            <p:nvSpPr>
              <p:cNvPr id="17413" name="TextBox 17412">
                <a:extLst>
                  <a:ext uri="{FF2B5EF4-FFF2-40B4-BE49-F238E27FC236}">
                    <a16:creationId xmlns:a16="http://schemas.microsoft.com/office/drawing/2014/main" id="{B7D30DB0-3737-518C-86B0-420A1F5DB2B6}"/>
                  </a:ext>
                </a:extLst>
              </p:cNvPr>
              <p:cNvSpPr txBox="1"/>
              <p:nvPr/>
            </p:nvSpPr>
            <p:spPr>
              <a:xfrm>
                <a:off x="567735" y="3413179"/>
                <a:ext cx="3843859" cy="43858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1600" b="1" dirty="0"/>
                  <a:t>Frontend:</a:t>
                </a:r>
                <a:r>
                  <a:rPr lang="en-IN" sz="1600" dirty="0"/>
                  <a:t> </a:t>
                </a:r>
                <a:r>
                  <a:rPr lang="en-IN" sz="1400" dirty="0"/>
                  <a:t>React 19, TypeScript, Tailwind, Motion</a:t>
                </a:r>
                <a:endParaRPr sz="1400" b="0" i="0" dirty="0">
                  <a:solidFill>
                    <a:srgbClr val="393F45"/>
                  </a:solidFill>
                  <a:latin typeface="Calibri"/>
                </a:endParaRPr>
              </a:p>
            </p:txBody>
          </p:sp>
          <p:sp>
            <p:nvSpPr>
              <p:cNvPr id="17414" name="TextBox 17413">
                <a:extLst>
                  <a:ext uri="{FF2B5EF4-FFF2-40B4-BE49-F238E27FC236}">
                    <a16:creationId xmlns:a16="http://schemas.microsoft.com/office/drawing/2014/main" id="{3F712428-606A-0B6F-6352-4E38D69EF9BF}"/>
                  </a:ext>
                </a:extLst>
              </p:cNvPr>
              <p:cNvSpPr txBox="1"/>
              <p:nvPr/>
            </p:nvSpPr>
            <p:spPr>
              <a:xfrm>
                <a:off x="567735" y="4057802"/>
                <a:ext cx="3974918" cy="4093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1400" b="1" dirty="0"/>
                  <a:t>Blockchain Data:</a:t>
                </a:r>
                <a:r>
                  <a:rPr lang="en-IN" sz="1400" dirty="0"/>
                  <a:t> </a:t>
                </a:r>
                <a:r>
                  <a:rPr lang="en-IN" sz="1400" dirty="0" err="1"/>
                  <a:t>TronGrid</a:t>
                </a:r>
                <a:r>
                  <a:rPr lang="en-IN" sz="1400" dirty="0"/>
                  <a:t>, </a:t>
                </a:r>
                <a:r>
                  <a:rPr lang="en-IN" sz="1400" dirty="0" err="1"/>
                  <a:t>Blockstream</a:t>
                </a:r>
                <a:r>
                  <a:rPr lang="en-IN" sz="1400" dirty="0"/>
                  <a:t>, </a:t>
                </a:r>
                <a:r>
                  <a:rPr lang="en-IN" sz="1400" dirty="0" err="1"/>
                  <a:t>Etherscan</a:t>
                </a:r>
                <a:endParaRPr sz="1400" b="0" i="0" dirty="0">
                  <a:solidFill>
                    <a:srgbClr val="393F45"/>
                  </a:solidFill>
                  <a:latin typeface="Calibri"/>
                </a:endParaRPr>
              </a:p>
            </p:txBody>
          </p:sp>
        </p:grpSp>
      </p:grpSp>
      <p:grpSp>
        <p:nvGrpSpPr>
          <p:cNvPr id="17623" name="Group 17622">
            <a:extLst>
              <a:ext uri="{FF2B5EF4-FFF2-40B4-BE49-F238E27FC236}">
                <a16:creationId xmlns:a16="http://schemas.microsoft.com/office/drawing/2014/main" id="{FF4284F7-5E94-405A-7FF2-46905C5EA0AA}"/>
              </a:ext>
            </a:extLst>
          </p:cNvPr>
          <p:cNvGrpSpPr/>
          <p:nvPr/>
        </p:nvGrpSpPr>
        <p:grpSpPr>
          <a:xfrm>
            <a:off x="8060881" y="5329899"/>
            <a:ext cx="3963227" cy="1230533"/>
            <a:chOff x="8066709" y="5269131"/>
            <a:chExt cx="3963227" cy="1230533"/>
          </a:xfrm>
        </p:grpSpPr>
        <p:sp>
          <p:nvSpPr>
            <p:cNvPr id="17443" name="Rectangle 17442">
              <a:extLst>
                <a:ext uri="{FF2B5EF4-FFF2-40B4-BE49-F238E27FC236}">
                  <a16:creationId xmlns:a16="http://schemas.microsoft.com/office/drawing/2014/main" id="{8077869C-8F02-F526-BADD-EC59B0CEB01D}"/>
                </a:ext>
              </a:extLst>
            </p:cNvPr>
            <p:cNvSpPr/>
            <p:nvPr/>
          </p:nvSpPr>
          <p:spPr>
            <a:xfrm>
              <a:off x="8066709" y="5269131"/>
              <a:ext cx="3963227" cy="12305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45" name="TextBox 17444">
              <a:extLst>
                <a:ext uri="{FF2B5EF4-FFF2-40B4-BE49-F238E27FC236}">
                  <a16:creationId xmlns:a16="http://schemas.microsoft.com/office/drawing/2014/main" id="{150905A9-7D4E-777D-8B6D-F742AB2D2466}"/>
                </a:ext>
              </a:extLst>
            </p:cNvPr>
            <p:cNvSpPr txBox="1"/>
            <p:nvPr/>
          </p:nvSpPr>
          <p:spPr>
            <a:xfrm>
              <a:off x="8120862" y="5341491"/>
              <a:ext cx="373828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PROTOTYPE LINK: </a:t>
              </a:r>
              <a:r>
                <a:rPr lang="en-US" sz="1600" dirty="0">
                  <a:hlinkClick r:id="rId4"/>
                </a:rPr>
                <a:t>github.com/tripathidhruv/Anveshak</a:t>
              </a:r>
              <a:r>
                <a:rPr lang="en-US" sz="1600" dirty="0"/>
                <a:t> </a:t>
              </a:r>
            </a:p>
          </p:txBody>
        </p:sp>
        <p:sp>
          <p:nvSpPr>
            <p:cNvPr id="17447" name="TextBox 17446">
              <a:extLst>
                <a:ext uri="{FF2B5EF4-FFF2-40B4-BE49-F238E27FC236}">
                  <a16:creationId xmlns:a16="http://schemas.microsoft.com/office/drawing/2014/main" id="{6F2516A7-56DF-D3DE-7E10-266D60F176F7}"/>
                </a:ext>
              </a:extLst>
            </p:cNvPr>
            <p:cNvSpPr txBox="1"/>
            <p:nvPr/>
          </p:nvSpPr>
          <p:spPr>
            <a:xfrm>
              <a:off x="8120862" y="5910488"/>
              <a:ext cx="3569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VIDEO LINK: </a:t>
              </a:r>
              <a:r>
                <a:rPr lang="en-US" sz="1600" dirty="0"/>
                <a:t>to be added</a:t>
              </a:r>
              <a:endParaRPr lang="en-IN" sz="1600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4441060-2F50-8007-4477-2E52001E4055}"/>
              </a:ext>
            </a:extLst>
          </p:cNvPr>
          <p:cNvSpPr/>
          <p:nvPr/>
        </p:nvSpPr>
        <p:spPr>
          <a:xfrm>
            <a:off x="80291" y="1056354"/>
            <a:ext cx="9059652" cy="68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53F949-4AF7-D4DB-7578-81A5FD7595FB}"/>
              </a:ext>
            </a:extLst>
          </p:cNvPr>
          <p:cNvSpPr/>
          <p:nvPr/>
        </p:nvSpPr>
        <p:spPr>
          <a:xfrm>
            <a:off x="152399" y="1128354"/>
            <a:ext cx="2028591" cy="527868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216A8D-C826-6E0E-6074-B8B0016B1010}"/>
              </a:ext>
            </a:extLst>
          </p:cNvPr>
          <p:cNvSpPr/>
          <p:nvPr/>
        </p:nvSpPr>
        <p:spPr>
          <a:xfrm>
            <a:off x="80290" y="1859556"/>
            <a:ext cx="1380957" cy="3086463"/>
          </a:xfrm>
          <a:prstGeom prst="rect">
            <a:avLst/>
          </a:prstGeom>
          <a:solidFill>
            <a:srgbClr val="FFF2E5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50ECFF-6D25-DAAC-EA96-B330B27B3610}"/>
              </a:ext>
            </a:extLst>
          </p:cNvPr>
          <p:cNvSpPr/>
          <p:nvPr/>
        </p:nvSpPr>
        <p:spPr>
          <a:xfrm>
            <a:off x="1765655" y="1859557"/>
            <a:ext cx="5589886" cy="2139657"/>
          </a:xfrm>
          <a:prstGeom prst="rect">
            <a:avLst/>
          </a:prstGeom>
          <a:solidFill>
            <a:srgbClr val="EEF3E5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52B01E-6302-1E2A-B592-4DF6BD5A942F}"/>
              </a:ext>
            </a:extLst>
          </p:cNvPr>
          <p:cNvSpPr/>
          <p:nvPr/>
        </p:nvSpPr>
        <p:spPr>
          <a:xfrm>
            <a:off x="7659949" y="1868701"/>
            <a:ext cx="1403700" cy="2841360"/>
          </a:xfrm>
          <a:prstGeom prst="rect">
            <a:avLst/>
          </a:prstGeom>
          <a:solidFill>
            <a:srgbClr val="F9F1FD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5440D1-F4F1-B9F4-BBD8-14D425C366D3}"/>
              </a:ext>
            </a:extLst>
          </p:cNvPr>
          <p:cNvSpPr/>
          <p:nvPr/>
        </p:nvSpPr>
        <p:spPr>
          <a:xfrm>
            <a:off x="1763242" y="4231341"/>
            <a:ext cx="5592299" cy="753164"/>
          </a:xfrm>
          <a:prstGeom prst="rect">
            <a:avLst/>
          </a:prstGeom>
          <a:solidFill>
            <a:srgbClr val="FFF4D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37FE52-1522-70EC-78AF-3985C30ACD37}"/>
              </a:ext>
            </a:extLst>
          </p:cNvPr>
          <p:cNvGrpSpPr/>
          <p:nvPr/>
        </p:nvGrpSpPr>
        <p:grpSpPr>
          <a:xfrm>
            <a:off x="161358" y="2791235"/>
            <a:ext cx="1216942" cy="2092132"/>
            <a:chOff x="161358" y="2721915"/>
            <a:chExt cx="1216942" cy="209213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664B4E2-27F2-27C9-9B7C-DC1E014FD4B6}"/>
                </a:ext>
              </a:extLst>
            </p:cNvPr>
            <p:cNvSpPr/>
            <p:nvPr/>
          </p:nvSpPr>
          <p:spPr>
            <a:xfrm>
              <a:off x="161359" y="4519025"/>
              <a:ext cx="1216915" cy="295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739B91D-74A8-BD70-EE69-BF5BD3FEF069}"/>
                </a:ext>
              </a:extLst>
            </p:cNvPr>
            <p:cNvSpPr/>
            <p:nvPr/>
          </p:nvSpPr>
          <p:spPr>
            <a:xfrm>
              <a:off x="161358" y="4159603"/>
              <a:ext cx="1216915" cy="295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FD2121-C422-292B-021E-59CE504E0174}"/>
                </a:ext>
              </a:extLst>
            </p:cNvPr>
            <p:cNvSpPr/>
            <p:nvPr/>
          </p:nvSpPr>
          <p:spPr>
            <a:xfrm>
              <a:off x="161367" y="3800181"/>
              <a:ext cx="1216915" cy="295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194136-454E-2C2B-7F18-FF0C5678F233}"/>
                </a:ext>
              </a:extLst>
            </p:cNvPr>
            <p:cNvSpPr/>
            <p:nvPr/>
          </p:nvSpPr>
          <p:spPr>
            <a:xfrm>
              <a:off x="161376" y="3440759"/>
              <a:ext cx="1216915" cy="295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E115E52-98AC-03A8-9157-CBEA6AD999AD}"/>
                </a:ext>
              </a:extLst>
            </p:cNvPr>
            <p:cNvSpPr/>
            <p:nvPr/>
          </p:nvSpPr>
          <p:spPr>
            <a:xfrm>
              <a:off x="161385" y="3081337"/>
              <a:ext cx="1216915" cy="295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CCD48FB-1149-EEF2-D1CE-7F975A23EC77}"/>
                </a:ext>
              </a:extLst>
            </p:cNvPr>
            <p:cNvSpPr/>
            <p:nvPr/>
          </p:nvSpPr>
          <p:spPr>
            <a:xfrm>
              <a:off x="161385" y="2721915"/>
              <a:ext cx="1216915" cy="295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5F3797B-940B-4229-8019-F970ED84B619}"/>
              </a:ext>
            </a:extLst>
          </p:cNvPr>
          <p:cNvSpPr txBox="1"/>
          <p:nvPr/>
        </p:nvSpPr>
        <p:spPr>
          <a:xfrm>
            <a:off x="79336" y="1823407"/>
            <a:ext cx="1380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CLIENT LAYER</a:t>
            </a:r>
          </a:p>
          <a:p>
            <a:pPr algn="ctr"/>
            <a:r>
              <a:rPr lang="en-US" sz="1050" dirty="0"/>
              <a:t>(React + TS Browser)</a:t>
            </a:r>
            <a:endParaRPr lang="en-IN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8FB0D7-B1BA-D1CC-097C-D1718E7B1166}"/>
              </a:ext>
            </a:extLst>
          </p:cNvPr>
          <p:cNvSpPr txBox="1"/>
          <p:nvPr/>
        </p:nvSpPr>
        <p:spPr>
          <a:xfrm>
            <a:off x="3508004" y="1859557"/>
            <a:ext cx="21590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BACKEND LAYER </a:t>
            </a:r>
            <a:r>
              <a:rPr lang="en-US" sz="1050" dirty="0"/>
              <a:t>(</a:t>
            </a:r>
            <a:r>
              <a:rPr lang="en-US" sz="1050" dirty="0" err="1"/>
              <a:t>FastAPI</a:t>
            </a:r>
            <a:r>
              <a:rPr lang="en-US" sz="1050" dirty="0"/>
              <a:t>)</a:t>
            </a:r>
            <a:endParaRPr lang="en-IN" sz="10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A2B544-6A7F-A229-9E3E-D73D410315CA}"/>
              </a:ext>
            </a:extLst>
          </p:cNvPr>
          <p:cNvSpPr txBox="1"/>
          <p:nvPr/>
        </p:nvSpPr>
        <p:spPr>
          <a:xfrm>
            <a:off x="3642621" y="4202134"/>
            <a:ext cx="21590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DATABASE LAYER </a:t>
            </a:r>
            <a:r>
              <a:rPr lang="en-US" sz="1050" dirty="0"/>
              <a:t>(PostgreSQL)</a:t>
            </a:r>
            <a:endParaRPr lang="en-IN" sz="105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EAD564-B198-8A8F-FC80-C071D47D7A43}"/>
              </a:ext>
            </a:extLst>
          </p:cNvPr>
          <p:cNvSpPr txBox="1"/>
          <p:nvPr/>
        </p:nvSpPr>
        <p:spPr>
          <a:xfrm>
            <a:off x="7691051" y="1869962"/>
            <a:ext cx="14037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EXTERNAL SERVICES</a:t>
            </a:r>
            <a:endParaRPr lang="en-IN" sz="105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FC6C60E-CFCF-3CE4-5AA3-D9A5C3E67508}"/>
              </a:ext>
            </a:extLst>
          </p:cNvPr>
          <p:cNvSpPr/>
          <p:nvPr/>
        </p:nvSpPr>
        <p:spPr>
          <a:xfrm>
            <a:off x="7734985" y="2152190"/>
            <a:ext cx="1246345" cy="73783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A03FDB0-1EA8-0C94-656D-E8FEA8D237B9}"/>
              </a:ext>
            </a:extLst>
          </p:cNvPr>
          <p:cNvSpPr/>
          <p:nvPr/>
        </p:nvSpPr>
        <p:spPr>
          <a:xfrm>
            <a:off x="7740962" y="2965091"/>
            <a:ext cx="1246345" cy="63797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0" name="Rectangle 17409">
            <a:extLst>
              <a:ext uri="{FF2B5EF4-FFF2-40B4-BE49-F238E27FC236}">
                <a16:creationId xmlns:a16="http://schemas.microsoft.com/office/drawing/2014/main" id="{272FB55D-4B7F-89CB-D3B5-0C6482670243}"/>
              </a:ext>
            </a:extLst>
          </p:cNvPr>
          <p:cNvSpPr/>
          <p:nvPr/>
        </p:nvSpPr>
        <p:spPr>
          <a:xfrm>
            <a:off x="7740962" y="3700489"/>
            <a:ext cx="1246345" cy="9286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71E7178E-26C8-093B-D8FE-F5D6C1938CAF}"/>
              </a:ext>
            </a:extLst>
          </p:cNvPr>
          <p:cNvSpPr/>
          <p:nvPr/>
        </p:nvSpPr>
        <p:spPr>
          <a:xfrm>
            <a:off x="1804196" y="2110493"/>
            <a:ext cx="1094583" cy="87156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Rectangle 17414">
            <a:extLst>
              <a:ext uri="{FF2B5EF4-FFF2-40B4-BE49-F238E27FC236}">
                <a16:creationId xmlns:a16="http://schemas.microsoft.com/office/drawing/2014/main" id="{A373C7A7-F238-0145-7999-1B0A2D0BB141}"/>
              </a:ext>
            </a:extLst>
          </p:cNvPr>
          <p:cNvSpPr/>
          <p:nvPr/>
        </p:nvSpPr>
        <p:spPr>
          <a:xfrm>
            <a:off x="3003892" y="2113473"/>
            <a:ext cx="1069201" cy="86858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6" name="Rectangle 17415">
            <a:extLst>
              <a:ext uri="{FF2B5EF4-FFF2-40B4-BE49-F238E27FC236}">
                <a16:creationId xmlns:a16="http://schemas.microsoft.com/office/drawing/2014/main" id="{249E2FBC-82E2-BD4C-44EE-3424051193D2}"/>
              </a:ext>
            </a:extLst>
          </p:cNvPr>
          <p:cNvSpPr/>
          <p:nvPr/>
        </p:nvSpPr>
        <p:spPr>
          <a:xfrm>
            <a:off x="4178207" y="2113473"/>
            <a:ext cx="1069201" cy="86858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CD643CA3-1D0A-8ED7-ECCD-3D04333BEF1B}"/>
              </a:ext>
            </a:extLst>
          </p:cNvPr>
          <p:cNvSpPr/>
          <p:nvPr/>
        </p:nvSpPr>
        <p:spPr>
          <a:xfrm>
            <a:off x="5325562" y="2121958"/>
            <a:ext cx="963425" cy="85161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8" name="Rectangle 17417">
            <a:extLst>
              <a:ext uri="{FF2B5EF4-FFF2-40B4-BE49-F238E27FC236}">
                <a16:creationId xmlns:a16="http://schemas.microsoft.com/office/drawing/2014/main" id="{42B3BAE8-797A-9EB3-1A6F-AAC9690F805C}"/>
              </a:ext>
            </a:extLst>
          </p:cNvPr>
          <p:cNvSpPr/>
          <p:nvPr/>
        </p:nvSpPr>
        <p:spPr>
          <a:xfrm>
            <a:off x="6355976" y="2113473"/>
            <a:ext cx="963425" cy="86858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C337909F-9819-204F-D35D-0AB3A53B5E91}"/>
              </a:ext>
            </a:extLst>
          </p:cNvPr>
          <p:cNvSpPr/>
          <p:nvPr/>
        </p:nvSpPr>
        <p:spPr>
          <a:xfrm>
            <a:off x="1851677" y="3237095"/>
            <a:ext cx="1486714" cy="67357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0" name="Rectangle 17419">
            <a:extLst>
              <a:ext uri="{FF2B5EF4-FFF2-40B4-BE49-F238E27FC236}">
                <a16:creationId xmlns:a16="http://schemas.microsoft.com/office/drawing/2014/main" id="{D78E63C1-8189-F275-3852-F239DB7E42B3}"/>
              </a:ext>
            </a:extLst>
          </p:cNvPr>
          <p:cNvSpPr/>
          <p:nvPr/>
        </p:nvSpPr>
        <p:spPr>
          <a:xfrm>
            <a:off x="3435648" y="3237095"/>
            <a:ext cx="1069201" cy="67357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1" name="Rectangle 17420">
            <a:extLst>
              <a:ext uri="{FF2B5EF4-FFF2-40B4-BE49-F238E27FC236}">
                <a16:creationId xmlns:a16="http://schemas.microsoft.com/office/drawing/2014/main" id="{8CD9ADBF-AAA0-1EA0-7FA3-0D396B960D33}"/>
              </a:ext>
            </a:extLst>
          </p:cNvPr>
          <p:cNvSpPr/>
          <p:nvPr/>
        </p:nvSpPr>
        <p:spPr>
          <a:xfrm>
            <a:off x="4598587" y="3237095"/>
            <a:ext cx="1282260" cy="67357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2" name="Rectangle 17421">
            <a:extLst>
              <a:ext uri="{FF2B5EF4-FFF2-40B4-BE49-F238E27FC236}">
                <a16:creationId xmlns:a16="http://schemas.microsoft.com/office/drawing/2014/main" id="{8FAD493A-F3E8-7BBB-9A05-DE0DAB350A2E}"/>
              </a:ext>
            </a:extLst>
          </p:cNvPr>
          <p:cNvSpPr/>
          <p:nvPr/>
        </p:nvSpPr>
        <p:spPr>
          <a:xfrm>
            <a:off x="5995070" y="3237095"/>
            <a:ext cx="1282260" cy="67357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38" name="TextBox 17437">
            <a:extLst>
              <a:ext uri="{FF2B5EF4-FFF2-40B4-BE49-F238E27FC236}">
                <a16:creationId xmlns:a16="http://schemas.microsoft.com/office/drawing/2014/main" id="{EBA0A551-60E6-82B0-4409-90B8410B0AB5}"/>
              </a:ext>
            </a:extLst>
          </p:cNvPr>
          <p:cNvSpPr txBox="1"/>
          <p:nvPr/>
        </p:nvSpPr>
        <p:spPr>
          <a:xfrm>
            <a:off x="339355" y="2799916"/>
            <a:ext cx="915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Intake</a:t>
            </a:r>
            <a:endParaRPr lang="en-IN" sz="1200" b="1" dirty="0"/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BE939511-ABB6-0982-4AEA-4301B03CAD3C}"/>
              </a:ext>
            </a:extLst>
          </p:cNvPr>
          <p:cNvSpPr txBox="1"/>
          <p:nvPr/>
        </p:nvSpPr>
        <p:spPr>
          <a:xfrm>
            <a:off x="331352" y="3148675"/>
            <a:ext cx="971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Live Trace</a:t>
            </a:r>
            <a:endParaRPr lang="en-IN" sz="1200" b="1" dirty="0"/>
          </a:p>
        </p:txBody>
      </p:sp>
      <p:sp>
        <p:nvSpPr>
          <p:cNvPr id="17440" name="TextBox 17439">
            <a:extLst>
              <a:ext uri="{FF2B5EF4-FFF2-40B4-BE49-F238E27FC236}">
                <a16:creationId xmlns:a16="http://schemas.microsoft.com/office/drawing/2014/main" id="{1A986230-6073-6A05-8450-5778D0F444F7}"/>
              </a:ext>
            </a:extLst>
          </p:cNvPr>
          <p:cNvSpPr txBox="1"/>
          <p:nvPr/>
        </p:nvSpPr>
        <p:spPr>
          <a:xfrm>
            <a:off x="365273" y="3527216"/>
            <a:ext cx="971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Attribution</a:t>
            </a:r>
            <a:endParaRPr lang="en-IN" sz="1200" b="1" dirty="0"/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9F799EE2-370B-1DCC-B339-C17495415D61}"/>
              </a:ext>
            </a:extLst>
          </p:cNvPr>
          <p:cNvSpPr txBox="1"/>
          <p:nvPr/>
        </p:nvSpPr>
        <p:spPr>
          <a:xfrm>
            <a:off x="218294" y="3878819"/>
            <a:ext cx="1103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Memory</a:t>
            </a:r>
            <a:endParaRPr lang="en-IN" sz="1200" b="1" dirty="0"/>
          </a:p>
        </p:txBody>
      </p: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2850A78C-B1C1-2989-7262-70AD3C9609E4}"/>
              </a:ext>
            </a:extLst>
          </p:cNvPr>
          <p:cNvSpPr txBox="1"/>
          <p:nvPr/>
        </p:nvSpPr>
        <p:spPr>
          <a:xfrm>
            <a:off x="272032" y="4228923"/>
            <a:ext cx="1103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Notices</a:t>
            </a:r>
            <a:endParaRPr lang="en-IN" sz="1200" b="1" dirty="0"/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F6D6E607-432C-FCBA-D328-061AD4EE742B}"/>
              </a:ext>
            </a:extLst>
          </p:cNvPr>
          <p:cNvSpPr txBox="1"/>
          <p:nvPr/>
        </p:nvSpPr>
        <p:spPr>
          <a:xfrm>
            <a:off x="314005" y="4605672"/>
            <a:ext cx="1103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Freeze Alert</a:t>
            </a:r>
            <a:endParaRPr lang="en-IN" sz="1200" b="1" dirty="0"/>
          </a:p>
        </p:txBody>
      </p: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A5E2D3A8-E931-CC47-68BF-E59986D1CFD2}"/>
              </a:ext>
            </a:extLst>
          </p:cNvPr>
          <p:cNvSpPr txBox="1"/>
          <p:nvPr/>
        </p:nvSpPr>
        <p:spPr>
          <a:xfrm>
            <a:off x="8027319" y="2176745"/>
            <a:ext cx="1112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/>
              <a:t>TronGrid</a:t>
            </a:r>
            <a:r>
              <a:rPr lang="en-US" sz="1100" b="1" dirty="0"/>
              <a:t>/ </a:t>
            </a:r>
            <a:r>
              <a:rPr lang="en-US" sz="1100" b="1" dirty="0" err="1"/>
              <a:t>Etherscan</a:t>
            </a:r>
            <a:r>
              <a:rPr lang="en-US" sz="1100" b="1" dirty="0"/>
              <a:t> APIs</a:t>
            </a:r>
            <a:endParaRPr lang="en-IN" sz="1100" b="1" dirty="0"/>
          </a:p>
        </p:txBody>
      </p:sp>
      <p:sp>
        <p:nvSpPr>
          <p:cNvPr id="17448" name="TextBox 17447">
            <a:extLst>
              <a:ext uri="{FF2B5EF4-FFF2-40B4-BE49-F238E27FC236}">
                <a16:creationId xmlns:a16="http://schemas.microsoft.com/office/drawing/2014/main" id="{0E212452-7C34-DC95-9730-A8F9010E64FE}"/>
              </a:ext>
            </a:extLst>
          </p:cNvPr>
          <p:cNvSpPr txBox="1"/>
          <p:nvPr/>
        </p:nvSpPr>
        <p:spPr>
          <a:xfrm>
            <a:off x="8094640" y="3021373"/>
            <a:ext cx="1020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OCR + NLP</a:t>
            </a:r>
            <a:endParaRPr lang="en-IN" sz="1100" b="1" dirty="0"/>
          </a:p>
        </p:txBody>
      </p:sp>
      <p:sp>
        <p:nvSpPr>
          <p:cNvPr id="17449" name="TextBox 17448">
            <a:extLst>
              <a:ext uri="{FF2B5EF4-FFF2-40B4-BE49-F238E27FC236}">
                <a16:creationId xmlns:a16="http://schemas.microsoft.com/office/drawing/2014/main" id="{B30F5F7F-00BD-6E35-6F8C-2DDF918A1E17}"/>
              </a:ext>
            </a:extLst>
          </p:cNvPr>
          <p:cNvSpPr txBox="1"/>
          <p:nvPr/>
        </p:nvSpPr>
        <p:spPr>
          <a:xfrm>
            <a:off x="8104126" y="3747219"/>
            <a:ext cx="1020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AUTH API</a:t>
            </a:r>
            <a:endParaRPr lang="en-IN" sz="1100" b="1" dirty="0"/>
          </a:p>
        </p:txBody>
      </p:sp>
      <p:sp>
        <p:nvSpPr>
          <p:cNvPr id="17450" name="Rectangle 17449">
            <a:extLst>
              <a:ext uri="{FF2B5EF4-FFF2-40B4-BE49-F238E27FC236}">
                <a16:creationId xmlns:a16="http://schemas.microsoft.com/office/drawing/2014/main" id="{C9A4814F-1532-1F6E-2CB2-1B4A50CF5A0B}"/>
              </a:ext>
            </a:extLst>
          </p:cNvPr>
          <p:cNvSpPr/>
          <p:nvPr/>
        </p:nvSpPr>
        <p:spPr>
          <a:xfrm>
            <a:off x="2313769" y="1139450"/>
            <a:ext cx="999582" cy="519097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1" name="Rectangle 17450">
            <a:extLst>
              <a:ext uri="{FF2B5EF4-FFF2-40B4-BE49-F238E27FC236}">
                <a16:creationId xmlns:a16="http://schemas.microsoft.com/office/drawing/2014/main" id="{3D24B02D-EC56-23C7-89E6-2E12CFCD8CEE}"/>
              </a:ext>
            </a:extLst>
          </p:cNvPr>
          <p:cNvSpPr/>
          <p:nvPr/>
        </p:nvSpPr>
        <p:spPr>
          <a:xfrm>
            <a:off x="3449633" y="1140458"/>
            <a:ext cx="1099570" cy="5180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2" name="Rectangle 17451">
            <a:extLst>
              <a:ext uri="{FF2B5EF4-FFF2-40B4-BE49-F238E27FC236}">
                <a16:creationId xmlns:a16="http://schemas.microsoft.com/office/drawing/2014/main" id="{B730996F-F237-A8D3-F8B9-153ECB10E77A}"/>
              </a:ext>
            </a:extLst>
          </p:cNvPr>
          <p:cNvSpPr/>
          <p:nvPr/>
        </p:nvSpPr>
        <p:spPr>
          <a:xfrm>
            <a:off x="4685485" y="1133542"/>
            <a:ext cx="1178904" cy="519612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3" name="Rectangle 17452">
            <a:extLst>
              <a:ext uri="{FF2B5EF4-FFF2-40B4-BE49-F238E27FC236}">
                <a16:creationId xmlns:a16="http://schemas.microsoft.com/office/drawing/2014/main" id="{BBC41FC1-00E2-BF96-3143-8A00892D1ADC}"/>
              </a:ext>
            </a:extLst>
          </p:cNvPr>
          <p:cNvSpPr/>
          <p:nvPr/>
        </p:nvSpPr>
        <p:spPr>
          <a:xfrm>
            <a:off x="5991476" y="1133543"/>
            <a:ext cx="1178904" cy="52267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54" name="Rectangle 17453">
            <a:extLst>
              <a:ext uri="{FF2B5EF4-FFF2-40B4-BE49-F238E27FC236}">
                <a16:creationId xmlns:a16="http://schemas.microsoft.com/office/drawing/2014/main" id="{29449DD7-EB34-A19D-5EDA-C3AC8B0A0022}"/>
              </a:ext>
            </a:extLst>
          </p:cNvPr>
          <p:cNvSpPr/>
          <p:nvPr/>
        </p:nvSpPr>
        <p:spPr>
          <a:xfrm>
            <a:off x="7306662" y="1138475"/>
            <a:ext cx="1062222" cy="52267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5" name="TextBox 17454">
            <a:extLst>
              <a:ext uri="{FF2B5EF4-FFF2-40B4-BE49-F238E27FC236}">
                <a16:creationId xmlns:a16="http://schemas.microsoft.com/office/drawing/2014/main" id="{6119940A-D97C-43E4-1161-0D26CDA9B975}"/>
              </a:ext>
            </a:extLst>
          </p:cNvPr>
          <p:cNvSpPr txBox="1"/>
          <p:nvPr/>
        </p:nvSpPr>
        <p:spPr>
          <a:xfrm>
            <a:off x="1667546" y="2152874"/>
            <a:ext cx="1380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Smart Intake</a:t>
            </a:r>
          </a:p>
        </p:txBody>
      </p:sp>
      <p:sp>
        <p:nvSpPr>
          <p:cNvPr id="17456" name="TextBox 17455">
            <a:extLst>
              <a:ext uri="{FF2B5EF4-FFF2-40B4-BE49-F238E27FC236}">
                <a16:creationId xmlns:a16="http://schemas.microsoft.com/office/drawing/2014/main" id="{137A4FFE-7BDC-1882-8052-4C9AD7E0D7E6}"/>
              </a:ext>
            </a:extLst>
          </p:cNvPr>
          <p:cNvSpPr txBox="1"/>
          <p:nvPr/>
        </p:nvSpPr>
        <p:spPr>
          <a:xfrm>
            <a:off x="3125797" y="2144940"/>
            <a:ext cx="825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Memory</a:t>
            </a:r>
          </a:p>
        </p:txBody>
      </p:sp>
      <p:sp>
        <p:nvSpPr>
          <p:cNvPr id="17457" name="TextBox 17456">
            <a:extLst>
              <a:ext uri="{FF2B5EF4-FFF2-40B4-BE49-F238E27FC236}">
                <a16:creationId xmlns:a16="http://schemas.microsoft.com/office/drawing/2014/main" id="{F64550C9-AF12-9222-50C0-29A8813ED8C3}"/>
              </a:ext>
            </a:extLst>
          </p:cNvPr>
          <p:cNvSpPr txBox="1"/>
          <p:nvPr/>
        </p:nvSpPr>
        <p:spPr>
          <a:xfrm>
            <a:off x="4187620" y="2147964"/>
            <a:ext cx="1081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Tracing Engine</a:t>
            </a:r>
          </a:p>
        </p:txBody>
      </p:sp>
      <p:sp>
        <p:nvSpPr>
          <p:cNvPr id="17458" name="TextBox 17457">
            <a:extLst>
              <a:ext uri="{FF2B5EF4-FFF2-40B4-BE49-F238E27FC236}">
                <a16:creationId xmlns:a16="http://schemas.microsoft.com/office/drawing/2014/main" id="{22811CF3-ED46-D1B7-4586-1E1647E92BF4}"/>
              </a:ext>
            </a:extLst>
          </p:cNvPr>
          <p:cNvSpPr txBox="1"/>
          <p:nvPr/>
        </p:nvSpPr>
        <p:spPr>
          <a:xfrm>
            <a:off x="5143520" y="2154345"/>
            <a:ext cx="1380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Attribution</a:t>
            </a:r>
          </a:p>
        </p:txBody>
      </p:sp>
      <p:sp>
        <p:nvSpPr>
          <p:cNvPr id="17459" name="TextBox 17458">
            <a:extLst>
              <a:ext uri="{FF2B5EF4-FFF2-40B4-BE49-F238E27FC236}">
                <a16:creationId xmlns:a16="http://schemas.microsoft.com/office/drawing/2014/main" id="{0598800C-9D14-0716-A202-73660BE39950}"/>
              </a:ext>
            </a:extLst>
          </p:cNvPr>
          <p:cNvSpPr txBox="1"/>
          <p:nvPr/>
        </p:nvSpPr>
        <p:spPr>
          <a:xfrm>
            <a:off x="6158358" y="2146865"/>
            <a:ext cx="1380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Evidence pack</a:t>
            </a:r>
          </a:p>
        </p:txBody>
      </p:sp>
      <p:sp>
        <p:nvSpPr>
          <p:cNvPr id="17460" name="TextBox 17459">
            <a:extLst>
              <a:ext uri="{FF2B5EF4-FFF2-40B4-BE49-F238E27FC236}">
                <a16:creationId xmlns:a16="http://schemas.microsoft.com/office/drawing/2014/main" id="{EE92FA9C-4B69-2437-1B21-C7CD6696246E}"/>
              </a:ext>
            </a:extLst>
          </p:cNvPr>
          <p:cNvSpPr txBox="1"/>
          <p:nvPr/>
        </p:nvSpPr>
        <p:spPr>
          <a:xfrm>
            <a:off x="1843131" y="3235067"/>
            <a:ext cx="1522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Notices &amp; Routing</a:t>
            </a:r>
          </a:p>
        </p:txBody>
      </p:sp>
      <p:sp>
        <p:nvSpPr>
          <p:cNvPr id="17461" name="TextBox 17460">
            <a:extLst>
              <a:ext uri="{FF2B5EF4-FFF2-40B4-BE49-F238E27FC236}">
                <a16:creationId xmlns:a16="http://schemas.microsoft.com/office/drawing/2014/main" id="{371AF60E-91FE-188A-660C-2F97F3634B99}"/>
              </a:ext>
            </a:extLst>
          </p:cNvPr>
          <p:cNvSpPr txBox="1"/>
          <p:nvPr/>
        </p:nvSpPr>
        <p:spPr>
          <a:xfrm>
            <a:off x="3589220" y="3230771"/>
            <a:ext cx="780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Audit Log</a:t>
            </a:r>
          </a:p>
        </p:txBody>
      </p:sp>
      <p:sp>
        <p:nvSpPr>
          <p:cNvPr id="17462" name="TextBox 17461">
            <a:extLst>
              <a:ext uri="{FF2B5EF4-FFF2-40B4-BE49-F238E27FC236}">
                <a16:creationId xmlns:a16="http://schemas.microsoft.com/office/drawing/2014/main" id="{76FE0EF8-E8B7-2F87-CB9D-0FD49DBF8FD5}"/>
              </a:ext>
            </a:extLst>
          </p:cNvPr>
          <p:cNvSpPr txBox="1"/>
          <p:nvPr/>
        </p:nvSpPr>
        <p:spPr>
          <a:xfrm>
            <a:off x="4487805" y="3239294"/>
            <a:ext cx="1522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Sanctions + Diffusion</a:t>
            </a:r>
          </a:p>
        </p:txBody>
      </p:sp>
      <p:sp>
        <p:nvSpPr>
          <p:cNvPr id="17463" name="TextBox 17462">
            <a:extLst>
              <a:ext uri="{FF2B5EF4-FFF2-40B4-BE49-F238E27FC236}">
                <a16:creationId xmlns:a16="http://schemas.microsoft.com/office/drawing/2014/main" id="{4893B31C-58A2-E6EE-F5F1-294BC7648541}"/>
              </a:ext>
            </a:extLst>
          </p:cNvPr>
          <p:cNvSpPr txBox="1"/>
          <p:nvPr/>
        </p:nvSpPr>
        <p:spPr>
          <a:xfrm>
            <a:off x="5885251" y="3233212"/>
            <a:ext cx="1522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Pre-emptive Freeze</a:t>
            </a:r>
          </a:p>
        </p:txBody>
      </p:sp>
      <p:sp>
        <p:nvSpPr>
          <p:cNvPr id="17464" name="TextBox 17463">
            <a:extLst>
              <a:ext uri="{FF2B5EF4-FFF2-40B4-BE49-F238E27FC236}">
                <a16:creationId xmlns:a16="http://schemas.microsoft.com/office/drawing/2014/main" id="{467DCEB0-3F25-F527-DB52-75BE98C3E855}"/>
              </a:ext>
            </a:extLst>
          </p:cNvPr>
          <p:cNvSpPr txBox="1"/>
          <p:nvPr/>
        </p:nvSpPr>
        <p:spPr>
          <a:xfrm>
            <a:off x="1753909" y="4745956"/>
            <a:ext cx="994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PostgreSQL</a:t>
            </a:r>
          </a:p>
        </p:txBody>
      </p:sp>
      <p:sp>
        <p:nvSpPr>
          <p:cNvPr id="17465" name="TextBox 17464">
            <a:extLst>
              <a:ext uri="{FF2B5EF4-FFF2-40B4-BE49-F238E27FC236}">
                <a16:creationId xmlns:a16="http://schemas.microsoft.com/office/drawing/2014/main" id="{F482C352-AD22-4E97-4F69-3CEA539E7008}"/>
              </a:ext>
            </a:extLst>
          </p:cNvPr>
          <p:cNvSpPr txBox="1"/>
          <p:nvPr/>
        </p:nvSpPr>
        <p:spPr>
          <a:xfrm>
            <a:off x="2693583" y="4619529"/>
            <a:ext cx="89763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Case Collection</a:t>
            </a:r>
            <a:r>
              <a:rPr lang="en-US" sz="1050" b="1" dirty="0"/>
              <a:t>	</a:t>
            </a:r>
          </a:p>
        </p:txBody>
      </p:sp>
      <p:sp>
        <p:nvSpPr>
          <p:cNvPr id="17466" name="TextBox 17465">
            <a:extLst>
              <a:ext uri="{FF2B5EF4-FFF2-40B4-BE49-F238E27FC236}">
                <a16:creationId xmlns:a16="http://schemas.microsoft.com/office/drawing/2014/main" id="{C7AC8817-A8E3-19DB-E13A-E43C5ECE3599}"/>
              </a:ext>
            </a:extLst>
          </p:cNvPr>
          <p:cNvSpPr txBox="1"/>
          <p:nvPr/>
        </p:nvSpPr>
        <p:spPr>
          <a:xfrm>
            <a:off x="3448197" y="4618786"/>
            <a:ext cx="10273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Trace Collection</a:t>
            </a:r>
            <a:endParaRPr lang="en-US" sz="1050" b="1" dirty="0"/>
          </a:p>
        </p:txBody>
      </p:sp>
      <p:sp>
        <p:nvSpPr>
          <p:cNvPr id="17467" name="TextBox 17466">
            <a:extLst>
              <a:ext uri="{FF2B5EF4-FFF2-40B4-BE49-F238E27FC236}">
                <a16:creationId xmlns:a16="http://schemas.microsoft.com/office/drawing/2014/main" id="{E338E5E2-DA34-6BC6-8760-1EDDED239FE7}"/>
              </a:ext>
            </a:extLst>
          </p:cNvPr>
          <p:cNvSpPr txBox="1"/>
          <p:nvPr/>
        </p:nvSpPr>
        <p:spPr>
          <a:xfrm>
            <a:off x="4283603" y="4627765"/>
            <a:ext cx="89763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Evidence Collection</a:t>
            </a:r>
            <a:r>
              <a:rPr lang="en-US" sz="1050" b="1" dirty="0"/>
              <a:t>	</a:t>
            </a:r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7CDF121A-DC8A-EEEA-2F8D-FC0B41D1023B}"/>
              </a:ext>
            </a:extLst>
          </p:cNvPr>
          <p:cNvSpPr txBox="1"/>
          <p:nvPr/>
        </p:nvSpPr>
        <p:spPr>
          <a:xfrm>
            <a:off x="5006545" y="4628534"/>
            <a:ext cx="9674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Audit Collection</a:t>
            </a:r>
            <a:r>
              <a:rPr lang="en-US" sz="1050" b="1" dirty="0"/>
              <a:t>	</a:t>
            </a:r>
          </a:p>
        </p:txBody>
      </p:sp>
      <p:sp>
        <p:nvSpPr>
          <p:cNvPr id="17469" name="TextBox 17468">
            <a:extLst>
              <a:ext uri="{FF2B5EF4-FFF2-40B4-BE49-F238E27FC236}">
                <a16:creationId xmlns:a16="http://schemas.microsoft.com/office/drawing/2014/main" id="{EECD70A0-D847-1B3F-3451-7C06A944BE19}"/>
              </a:ext>
            </a:extLst>
          </p:cNvPr>
          <p:cNvSpPr txBox="1"/>
          <p:nvPr/>
        </p:nvSpPr>
        <p:spPr>
          <a:xfrm>
            <a:off x="5769216" y="4619528"/>
            <a:ext cx="89763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Memory Collection</a:t>
            </a:r>
          </a:p>
        </p:txBody>
      </p:sp>
      <p:sp>
        <p:nvSpPr>
          <p:cNvPr id="17471" name="TextBox 17470">
            <a:extLst>
              <a:ext uri="{FF2B5EF4-FFF2-40B4-BE49-F238E27FC236}">
                <a16:creationId xmlns:a16="http://schemas.microsoft.com/office/drawing/2014/main" id="{A0C2835D-9512-9170-292A-9C6031990D90}"/>
              </a:ext>
            </a:extLst>
          </p:cNvPr>
          <p:cNvSpPr txBox="1"/>
          <p:nvPr/>
        </p:nvSpPr>
        <p:spPr>
          <a:xfrm>
            <a:off x="6460052" y="4613257"/>
            <a:ext cx="9522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Redis + Celery</a:t>
            </a:r>
            <a:endParaRPr lang="en-US" sz="1050" b="1" dirty="0"/>
          </a:p>
        </p:txBody>
      </p:sp>
      <p:grpSp>
        <p:nvGrpSpPr>
          <p:cNvPr id="17603" name="Group 17602">
            <a:extLst>
              <a:ext uri="{FF2B5EF4-FFF2-40B4-BE49-F238E27FC236}">
                <a16:creationId xmlns:a16="http://schemas.microsoft.com/office/drawing/2014/main" id="{21C0553F-ED04-9A9C-6563-82D6ACE4DDBB}"/>
              </a:ext>
            </a:extLst>
          </p:cNvPr>
          <p:cNvGrpSpPr/>
          <p:nvPr/>
        </p:nvGrpSpPr>
        <p:grpSpPr>
          <a:xfrm>
            <a:off x="1381038" y="5899900"/>
            <a:ext cx="6356705" cy="650205"/>
            <a:chOff x="1398128" y="5936358"/>
            <a:chExt cx="6356705" cy="65020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BACF586-99F3-008A-9A51-7491C8287A1B}"/>
                </a:ext>
              </a:extLst>
            </p:cNvPr>
            <p:cNvSpPr/>
            <p:nvPr/>
          </p:nvSpPr>
          <p:spPr>
            <a:xfrm>
              <a:off x="1398128" y="5976516"/>
              <a:ext cx="6356705" cy="610047"/>
            </a:xfrm>
            <a:prstGeom prst="rect">
              <a:avLst/>
            </a:prstGeom>
            <a:solidFill>
              <a:srgbClr val="FCF6F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04A71A-C234-EED0-3A63-FDF54CA78BBE}"/>
                </a:ext>
              </a:extLst>
            </p:cNvPr>
            <p:cNvSpPr txBox="1"/>
            <p:nvPr/>
          </p:nvSpPr>
          <p:spPr>
            <a:xfrm>
              <a:off x="4204232" y="5936358"/>
              <a:ext cx="105637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/>
                <a:t>FINAL OUTPUT</a:t>
              </a:r>
              <a:endParaRPr lang="en-IN" sz="1050" dirty="0"/>
            </a:p>
          </p:txBody>
        </p:sp>
        <p:sp>
          <p:nvSpPr>
            <p:cNvPr id="17423" name="Rectangle 17422">
              <a:extLst>
                <a:ext uri="{FF2B5EF4-FFF2-40B4-BE49-F238E27FC236}">
                  <a16:creationId xmlns:a16="http://schemas.microsoft.com/office/drawing/2014/main" id="{E15E976E-1F89-AEF5-9B9E-4EFDF3E8E8F8}"/>
                </a:ext>
              </a:extLst>
            </p:cNvPr>
            <p:cNvSpPr/>
            <p:nvPr/>
          </p:nvSpPr>
          <p:spPr>
            <a:xfrm>
              <a:off x="1461247" y="6147701"/>
              <a:ext cx="1470902" cy="404503"/>
            </a:xfrm>
            <a:prstGeom prst="rect">
              <a:avLst/>
            </a:prstGeom>
            <a:solidFill>
              <a:srgbClr val="F7EAE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4" name="Rectangle 17423">
              <a:extLst>
                <a:ext uri="{FF2B5EF4-FFF2-40B4-BE49-F238E27FC236}">
                  <a16:creationId xmlns:a16="http://schemas.microsoft.com/office/drawing/2014/main" id="{0CB68D95-79C9-A45E-EB8E-226ACA0E94F4}"/>
                </a:ext>
              </a:extLst>
            </p:cNvPr>
            <p:cNvSpPr/>
            <p:nvPr/>
          </p:nvSpPr>
          <p:spPr>
            <a:xfrm>
              <a:off x="3059324" y="6147701"/>
              <a:ext cx="1470902" cy="404503"/>
            </a:xfrm>
            <a:prstGeom prst="rect">
              <a:avLst/>
            </a:prstGeom>
            <a:solidFill>
              <a:srgbClr val="F7EAE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5" name="Rectangle 17424">
              <a:extLst>
                <a:ext uri="{FF2B5EF4-FFF2-40B4-BE49-F238E27FC236}">
                  <a16:creationId xmlns:a16="http://schemas.microsoft.com/office/drawing/2014/main" id="{36A8D7FD-0BD1-353B-C582-576D756F4918}"/>
                </a:ext>
              </a:extLst>
            </p:cNvPr>
            <p:cNvSpPr/>
            <p:nvPr/>
          </p:nvSpPr>
          <p:spPr>
            <a:xfrm>
              <a:off x="4657401" y="6145283"/>
              <a:ext cx="1470902" cy="404503"/>
            </a:xfrm>
            <a:prstGeom prst="rect">
              <a:avLst/>
            </a:prstGeom>
            <a:solidFill>
              <a:srgbClr val="F7EAE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6" name="Rectangle 17425">
              <a:extLst>
                <a:ext uri="{FF2B5EF4-FFF2-40B4-BE49-F238E27FC236}">
                  <a16:creationId xmlns:a16="http://schemas.microsoft.com/office/drawing/2014/main" id="{5B039CA0-0B77-ED82-2841-7F691FA6FD64}"/>
                </a:ext>
              </a:extLst>
            </p:cNvPr>
            <p:cNvSpPr/>
            <p:nvPr/>
          </p:nvSpPr>
          <p:spPr>
            <a:xfrm>
              <a:off x="6244195" y="6145283"/>
              <a:ext cx="1470902" cy="404503"/>
            </a:xfrm>
            <a:prstGeom prst="rect">
              <a:avLst/>
            </a:prstGeom>
            <a:solidFill>
              <a:srgbClr val="F7EAE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76" name="TextBox 17475">
              <a:extLst>
                <a:ext uri="{FF2B5EF4-FFF2-40B4-BE49-F238E27FC236}">
                  <a16:creationId xmlns:a16="http://schemas.microsoft.com/office/drawing/2014/main" id="{6A7A3C9C-F095-E519-2780-B19B82546F85}"/>
                </a:ext>
              </a:extLst>
            </p:cNvPr>
            <p:cNvSpPr txBox="1"/>
            <p:nvPr/>
          </p:nvSpPr>
          <p:spPr>
            <a:xfrm>
              <a:off x="1527280" y="6227452"/>
              <a:ext cx="13262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Fund Flow Graph</a:t>
              </a:r>
            </a:p>
          </p:txBody>
        </p:sp>
        <p:sp>
          <p:nvSpPr>
            <p:cNvPr id="17477" name="TextBox 17476">
              <a:extLst>
                <a:ext uri="{FF2B5EF4-FFF2-40B4-BE49-F238E27FC236}">
                  <a16:creationId xmlns:a16="http://schemas.microsoft.com/office/drawing/2014/main" id="{6381E90A-1B51-BBAE-F65A-A92D5F13E2D3}"/>
                </a:ext>
              </a:extLst>
            </p:cNvPr>
            <p:cNvSpPr txBox="1"/>
            <p:nvPr/>
          </p:nvSpPr>
          <p:spPr>
            <a:xfrm>
              <a:off x="3071559" y="6132090"/>
              <a:ext cx="14674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Investigation Report/ Evidence pack</a:t>
              </a:r>
            </a:p>
          </p:txBody>
        </p:sp>
        <p:sp>
          <p:nvSpPr>
            <p:cNvPr id="17478" name="TextBox 17477">
              <a:extLst>
                <a:ext uri="{FF2B5EF4-FFF2-40B4-BE49-F238E27FC236}">
                  <a16:creationId xmlns:a16="http://schemas.microsoft.com/office/drawing/2014/main" id="{EAEE04C3-3119-3FD0-8981-951DBF492836}"/>
                </a:ext>
              </a:extLst>
            </p:cNvPr>
            <p:cNvSpPr txBox="1"/>
            <p:nvPr/>
          </p:nvSpPr>
          <p:spPr>
            <a:xfrm>
              <a:off x="4654036" y="6132090"/>
              <a:ext cx="14674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Named VASP + confidence</a:t>
              </a:r>
            </a:p>
          </p:txBody>
        </p:sp>
        <p:sp>
          <p:nvSpPr>
            <p:cNvPr id="17479" name="TextBox 17478">
              <a:extLst>
                <a:ext uri="{FF2B5EF4-FFF2-40B4-BE49-F238E27FC236}">
                  <a16:creationId xmlns:a16="http://schemas.microsoft.com/office/drawing/2014/main" id="{7DD6DDF1-97FF-A3D0-3B30-45268E369F80}"/>
                </a:ext>
              </a:extLst>
            </p:cNvPr>
            <p:cNvSpPr txBox="1"/>
            <p:nvPr/>
          </p:nvSpPr>
          <p:spPr>
            <a:xfrm>
              <a:off x="6267498" y="6130385"/>
              <a:ext cx="14674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Routed request + freeze alert</a:t>
              </a:r>
            </a:p>
          </p:txBody>
        </p:sp>
      </p:grpSp>
      <p:pic>
        <p:nvPicPr>
          <p:cNvPr id="17481" name="Picture 17480">
            <a:extLst>
              <a:ext uri="{FF2B5EF4-FFF2-40B4-BE49-F238E27FC236}">
                <a16:creationId xmlns:a16="http://schemas.microsoft.com/office/drawing/2014/main" id="{D8B3EBE8-A8F4-9E87-CFE0-E5A2BE148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80" y="2197051"/>
            <a:ext cx="1171737" cy="574036"/>
          </a:xfrm>
          <a:prstGeom prst="rect">
            <a:avLst/>
          </a:prstGeom>
        </p:spPr>
      </p:pic>
      <p:cxnSp>
        <p:nvCxnSpPr>
          <p:cNvPr id="17483" name="Straight Arrow Connector 17482">
            <a:extLst>
              <a:ext uri="{FF2B5EF4-FFF2-40B4-BE49-F238E27FC236}">
                <a16:creationId xmlns:a16="http://schemas.microsoft.com/office/drawing/2014/main" id="{442A1A3F-1CE2-6357-30CF-589103CC2DA6}"/>
              </a:ext>
            </a:extLst>
          </p:cNvPr>
          <p:cNvCxnSpPr>
            <a:cxnSpLocks/>
          </p:cNvCxnSpPr>
          <p:nvPr/>
        </p:nvCxnSpPr>
        <p:spPr>
          <a:xfrm>
            <a:off x="1460294" y="2637175"/>
            <a:ext cx="305361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7" name="Straight Arrow Connector 17486">
            <a:extLst>
              <a:ext uri="{FF2B5EF4-FFF2-40B4-BE49-F238E27FC236}">
                <a16:creationId xmlns:a16="http://schemas.microsoft.com/office/drawing/2014/main" id="{4F5B6320-B55C-3D0E-854F-F43125E51A5F}"/>
              </a:ext>
            </a:extLst>
          </p:cNvPr>
          <p:cNvCxnSpPr>
            <a:cxnSpLocks/>
          </p:cNvCxnSpPr>
          <p:nvPr/>
        </p:nvCxnSpPr>
        <p:spPr>
          <a:xfrm>
            <a:off x="7355541" y="2645364"/>
            <a:ext cx="304408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8" name="Straight Arrow Connector 17487">
            <a:extLst>
              <a:ext uri="{FF2B5EF4-FFF2-40B4-BE49-F238E27FC236}">
                <a16:creationId xmlns:a16="http://schemas.microsoft.com/office/drawing/2014/main" id="{80E3F582-3DEB-EAB5-5868-C71D6F845BF2}"/>
              </a:ext>
            </a:extLst>
          </p:cNvPr>
          <p:cNvCxnSpPr>
            <a:cxnSpLocks/>
          </p:cNvCxnSpPr>
          <p:nvPr/>
        </p:nvCxnSpPr>
        <p:spPr>
          <a:xfrm>
            <a:off x="4534094" y="3999214"/>
            <a:ext cx="0" cy="232127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1" name="Straight Connector 17490">
            <a:extLst>
              <a:ext uri="{FF2B5EF4-FFF2-40B4-BE49-F238E27FC236}">
                <a16:creationId xmlns:a16="http://schemas.microsoft.com/office/drawing/2014/main" id="{1B0E1F32-FF01-A00C-2FE7-D2580C41AA5B}"/>
              </a:ext>
            </a:extLst>
          </p:cNvPr>
          <p:cNvCxnSpPr/>
          <p:nvPr/>
        </p:nvCxnSpPr>
        <p:spPr>
          <a:xfrm>
            <a:off x="2489555" y="3103589"/>
            <a:ext cx="4265052" cy="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3" name="Straight Arrow Connector 17492">
            <a:extLst>
              <a:ext uri="{FF2B5EF4-FFF2-40B4-BE49-F238E27FC236}">
                <a16:creationId xmlns:a16="http://schemas.microsoft.com/office/drawing/2014/main" id="{1BCCCD27-86BA-86A9-13CF-E83CB6D78EAB}"/>
              </a:ext>
            </a:extLst>
          </p:cNvPr>
          <p:cNvCxnSpPr>
            <a:cxnSpLocks/>
          </p:cNvCxnSpPr>
          <p:nvPr/>
        </p:nvCxnSpPr>
        <p:spPr>
          <a:xfrm>
            <a:off x="2489555" y="3103589"/>
            <a:ext cx="0" cy="1397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4" name="Straight Arrow Connector 17493">
            <a:extLst>
              <a:ext uri="{FF2B5EF4-FFF2-40B4-BE49-F238E27FC236}">
                <a16:creationId xmlns:a16="http://schemas.microsoft.com/office/drawing/2014/main" id="{D752DB39-7DFD-B047-F4FE-40104B4018AD}"/>
              </a:ext>
            </a:extLst>
          </p:cNvPr>
          <p:cNvCxnSpPr>
            <a:cxnSpLocks/>
          </p:cNvCxnSpPr>
          <p:nvPr/>
        </p:nvCxnSpPr>
        <p:spPr>
          <a:xfrm>
            <a:off x="5226438" y="3112105"/>
            <a:ext cx="0" cy="1397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5" name="Straight Arrow Connector 17494">
            <a:extLst>
              <a:ext uri="{FF2B5EF4-FFF2-40B4-BE49-F238E27FC236}">
                <a16:creationId xmlns:a16="http://schemas.microsoft.com/office/drawing/2014/main" id="{AA09595E-2E56-37E5-B94A-E60BF7F72E49}"/>
              </a:ext>
            </a:extLst>
          </p:cNvPr>
          <p:cNvCxnSpPr>
            <a:cxnSpLocks/>
          </p:cNvCxnSpPr>
          <p:nvPr/>
        </p:nvCxnSpPr>
        <p:spPr>
          <a:xfrm>
            <a:off x="6751599" y="3103589"/>
            <a:ext cx="0" cy="1397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2" name="Straight Arrow Connector 17501">
            <a:extLst>
              <a:ext uri="{FF2B5EF4-FFF2-40B4-BE49-F238E27FC236}">
                <a16:creationId xmlns:a16="http://schemas.microsoft.com/office/drawing/2014/main" id="{582FAA6A-BB08-D196-C8AF-B1A2CD75B109}"/>
              </a:ext>
            </a:extLst>
          </p:cNvPr>
          <p:cNvCxnSpPr>
            <a:cxnSpLocks/>
          </p:cNvCxnSpPr>
          <p:nvPr/>
        </p:nvCxnSpPr>
        <p:spPr>
          <a:xfrm flipH="1" flipV="1">
            <a:off x="3329561" y="3560352"/>
            <a:ext cx="111790" cy="66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7" name="Straight Arrow Connector 17506">
            <a:extLst>
              <a:ext uri="{FF2B5EF4-FFF2-40B4-BE49-F238E27FC236}">
                <a16:creationId xmlns:a16="http://schemas.microsoft.com/office/drawing/2014/main" id="{98A4ED51-C648-B0C0-312F-386F4052BFC5}"/>
              </a:ext>
            </a:extLst>
          </p:cNvPr>
          <p:cNvCxnSpPr>
            <a:cxnSpLocks/>
            <a:stCxn id="17420" idx="3"/>
            <a:endCxn id="17421" idx="1"/>
          </p:cNvCxnSpPr>
          <p:nvPr/>
        </p:nvCxnSpPr>
        <p:spPr>
          <a:xfrm>
            <a:off x="4504849" y="3573882"/>
            <a:ext cx="9373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1" name="Straight Arrow Connector 17510">
            <a:extLst>
              <a:ext uri="{FF2B5EF4-FFF2-40B4-BE49-F238E27FC236}">
                <a16:creationId xmlns:a16="http://schemas.microsoft.com/office/drawing/2014/main" id="{C2CBA06F-4244-BC44-6870-9982195020E1}"/>
              </a:ext>
            </a:extLst>
          </p:cNvPr>
          <p:cNvCxnSpPr>
            <a:cxnSpLocks/>
          </p:cNvCxnSpPr>
          <p:nvPr/>
        </p:nvCxnSpPr>
        <p:spPr>
          <a:xfrm>
            <a:off x="4576480" y="5811749"/>
            <a:ext cx="0" cy="12830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18" name="object 14">
            <a:extLst>
              <a:ext uri="{FF2B5EF4-FFF2-40B4-BE49-F238E27FC236}">
                <a16:creationId xmlns:a16="http://schemas.microsoft.com/office/drawing/2014/main" id="{D3CB10E6-7C0F-3F3D-02E1-DFFBE9FEE61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05116" y="4353310"/>
            <a:ext cx="498546" cy="381545"/>
          </a:xfrm>
          <a:prstGeom prst="rect">
            <a:avLst/>
          </a:prstGeom>
        </p:spPr>
      </p:pic>
      <p:grpSp>
        <p:nvGrpSpPr>
          <p:cNvPr id="17555" name="Group 17554">
            <a:extLst>
              <a:ext uri="{FF2B5EF4-FFF2-40B4-BE49-F238E27FC236}">
                <a16:creationId xmlns:a16="http://schemas.microsoft.com/office/drawing/2014/main" id="{360D0F00-60B4-8377-5898-56B0AD9695D1}"/>
              </a:ext>
            </a:extLst>
          </p:cNvPr>
          <p:cNvGrpSpPr/>
          <p:nvPr/>
        </p:nvGrpSpPr>
        <p:grpSpPr>
          <a:xfrm>
            <a:off x="1378280" y="5147243"/>
            <a:ext cx="6409366" cy="664505"/>
            <a:chOff x="1378280" y="5146899"/>
            <a:chExt cx="6409366" cy="73219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AAFBD2-FF71-E7B6-5F75-6E0F9A805EAC}"/>
                </a:ext>
              </a:extLst>
            </p:cNvPr>
            <p:cNvSpPr/>
            <p:nvPr/>
          </p:nvSpPr>
          <p:spPr>
            <a:xfrm>
              <a:off x="1378280" y="5162410"/>
              <a:ext cx="6356705" cy="716679"/>
            </a:xfrm>
            <a:prstGeom prst="rect">
              <a:avLst/>
            </a:prstGeom>
            <a:solidFill>
              <a:srgbClr val="F2EFF5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47D1D1-70E5-CADB-ABDD-9FFA5FDE916D}"/>
                </a:ext>
              </a:extLst>
            </p:cNvPr>
            <p:cNvSpPr txBox="1"/>
            <p:nvPr/>
          </p:nvSpPr>
          <p:spPr>
            <a:xfrm>
              <a:off x="3970248" y="5146899"/>
              <a:ext cx="1583464" cy="264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/>
                <a:t>INFRASTRUCTURE LAYER</a:t>
              </a:r>
              <a:endParaRPr lang="en-IN" sz="1050" dirty="0"/>
            </a:p>
          </p:txBody>
        </p:sp>
        <p:sp>
          <p:nvSpPr>
            <p:cNvPr id="17472" name="TextBox 17471">
              <a:extLst>
                <a:ext uri="{FF2B5EF4-FFF2-40B4-BE49-F238E27FC236}">
                  <a16:creationId xmlns:a16="http://schemas.microsoft.com/office/drawing/2014/main" id="{314C6C44-EF97-8705-99FC-6C853F04BF81}"/>
                </a:ext>
              </a:extLst>
            </p:cNvPr>
            <p:cNvSpPr txBox="1"/>
            <p:nvPr/>
          </p:nvSpPr>
          <p:spPr>
            <a:xfrm>
              <a:off x="2026338" y="5411800"/>
              <a:ext cx="1263411" cy="42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Docker Compose </a:t>
              </a:r>
              <a:r>
                <a:rPr lang="en-US" sz="1050" dirty="0"/>
                <a:t>(Containers)</a:t>
              </a:r>
              <a:r>
                <a:rPr lang="en-US" sz="1050" b="1" dirty="0"/>
                <a:t>	</a:t>
              </a:r>
            </a:p>
          </p:txBody>
        </p:sp>
        <p:sp>
          <p:nvSpPr>
            <p:cNvPr id="17473" name="TextBox 17472">
              <a:extLst>
                <a:ext uri="{FF2B5EF4-FFF2-40B4-BE49-F238E27FC236}">
                  <a16:creationId xmlns:a16="http://schemas.microsoft.com/office/drawing/2014/main" id="{9AD76BB3-4BD4-BC60-0C89-E8EEBD0A7417}"/>
                </a:ext>
              </a:extLst>
            </p:cNvPr>
            <p:cNvSpPr txBox="1"/>
            <p:nvPr/>
          </p:nvSpPr>
          <p:spPr>
            <a:xfrm>
              <a:off x="3662685" y="5398426"/>
              <a:ext cx="1051619" cy="42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Nginx</a:t>
              </a:r>
              <a:r>
                <a:rPr lang="en-US" sz="1100" dirty="0"/>
                <a:t> </a:t>
              </a:r>
            </a:p>
            <a:p>
              <a:pPr algn="ctr"/>
              <a:r>
                <a:rPr lang="en-US" sz="1050" dirty="0"/>
                <a:t>(Reverse Proxy)</a:t>
              </a:r>
              <a:endParaRPr lang="en-US" sz="1050" b="1" dirty="0"/>
            </a:p>
          </p:txBody>
        </p:sp>
        <p:sp>
          <p:nvSpPr>
            <p:cNvPr id="17474" name="TextBox 17473">
              <a:extLst>
                <a:ext uri="{FF2B5EF4-FFF2-40B4-BE49-F238E27FC236}">
                  <a16:creationId xmlns:a16="http://schemas.microsoft.com/office/drawing/2014/main" id="{3765F744-53C7-7736-EB5D-4A3E42589901}"/>
                </a:ext>
              </a:extLst>
            </p:cNvPr>
            <p:cNvSpPr txBox="1"/>
            <p:nvPr/>
          </p:nvSpPr>
          <p:spPr>
            <a:xfrm>
              <a:off x="5061342" y="5400421"/>
              <a:ext cx="1084235" cy="42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JWT</a:t>
              </a:r>
            </a:p>
            <a:p>
              <a:pPr algn="ctr"/>
              <a:r>
                <a:rPr lang="en-US" sz="1050" b="1" dirty="0"/>
                <a:t> </a:t>
              </a:r>
              <a:r>
                <a:rPr lang="en-US" sz="1050" dirty="0"/>
                <a:t>(Auth Tokens)</a:t>
              </a:r>
              <a:endParaRPr lang="en-US" sz="1050" b="1" dirty="0"/>
            </a:p>
          </p:txBody>
        </p:sp>
        <p:sp>
          <p:nvSpPr>
            <p:cNvPr id="17475" name="TextBox 17474">
              <a:extLst>
                <a:ext uri="{FF2B5EF4-FFF2-40B4-BE49-F238E27FC236}">
                  <a16:creationId xmlns:a16="http://schemas.microsoft.com/office/drawing/2014/main" id="{10A8203D-3BB3-85D4-B0DC-389B57C3129E}"/>
                </a:ext>
              </a:extLst>
            </p:cNvPr>
            <p:cNvSpPr txBox="1"/>
            <p:nvPr/>
          </p:nvSpPr>
          <p:spPr>
            <a:xfrm>
              <a:off x="6460052" y="5395312"/>
              <a:ext cx="1327594" cy="42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HTTPS </a:t>
              </a:r>
            </a:p>
            <a:p>
              <a:pPr algn="ctr"/>
              <a:r>
                <a:rPr lang="en-US" sz="1050" dirty="0"/>
                <a:t>(TLS Encryption)</a:t>
              </a:r>
              <a:endParaRPr lang="en-US" sz="1050" b="1" dirty="0"/>
            </a:p>
          </p:txBody>
        </p:sp>
        <p:pic>
          <p:nvPicPr>
            <p:cNvPr id="17520" name="Picture 17519">
              <a:extLst>
                <a:ext uri="{FF2B5EF4-FFF2-40B4-BE49-F238E27FC236}">
                  <a16:creationId xmlns:a16="http://schemas.microsoft.com/office/drawing/2014/main" id="{41AEF75F-FA99-3C9A-47F0-B28FFEF64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67907" y="5433665"/>
              <a:ext cx="507153" cy="374048"/>
            </a:xfrm>
            <a:prstGeom prst="rect">
              <a:avLst/>
            </a:prstGeom>
          </p:spPr>
        </p:pic>
        <p:pic>
          <p:nvPicPr>
            <p:cNvPr id="17528" name="Picture 17527">
              <a:extLst>
                <a:ext uri="{FF2B5EF4-FFF2-40B4-BE49-F238E27FC236}">
                  <a16:creationId xmlns:a16="http://schemas.microsoft.com/office/drawing/2014/main" id="{4C428F29-D510-415F-DE24-60D6FED4A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29561" y="5428960"/>
              <a:ext cx="356006" cy="356006"/>
            </a:xfrm>
            <a:prstGeom prst="rect">
              <a:avLst/>
            </a:prstGeom>
          </p:spPr>
        </p:pic>
        <p:pic>
          <p:nvPicPr>
            <p:cNvPr id="17530" name="Picture 17529">
              <a:extLst>
                <a:ext uri="{FF2B5EF4-FFF2-40B4-BE49-F238E27FC236}">
                  <a16:creationId xmlns:a16="http://schemas.microsoft.com/office/drawing/2014/main" id="{C07C1DF9-7A40-222B-2117-27B1E302E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29659" y="5428079"/>
              <a:ext cx="365700" cy="365700"/>
            </a:xfrm>
            <a:prstGeom prst="rect">
              <a:avLst/>
            </a:prstGeom>
          </p:spPr>
        </p:pic>
        <p:pic>
          <p:nvPicPr>
            <p:cNvPr id="17532" name="Picture 17531">
              <a:extLst>
                <a:ext uri="{FF2B5EF4-FFF2-40B4-BE49-F238E27FC236}">
                  <a16:creationId xmlns:a16="http://schemas.microsoft.com/office/drawing/2014/main" id="{5FB260D9-EC80-FB60-B18F-5FF2AECD0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18031" y="5398426"/>
              <a:ext cx="394057" cy="394057"/>
            </a:xfrm>
            <a:prstGeom prst="rect">
              <a:avLst/>
            </a:prstGeom>
          </p:spPr>
        </p:pic>
        <p:cxnSp>
          <p:nvCxnSpPr>
            <p:cNvPr id="17533" name="Straight Connector 17532">
              <a:extLst>
                <a:ext uri="{FF2B5EF4-FFF2-40B4-BE49-F238E27FC236}">
                  <a16:creationId xmlns:a16="http://schemas.microsoft.com/office/drawing/2014/main" id="{1C5D327E-AC84-F52B-FC05-5E4062EE7340}"/>
                </a:ext>
              </a:extLst>
            </p:cNvPr>
            <p:cNvCxnSpPr>
              <a:cxnSpLocks/>
            </p:cNvCxnSpPr>
            <p:nvPr/>
          </p:nvCxnSpPr>
          <p:spPr>
            <a:xfrm>
              <a:off x="3223504" y="5417061"/>
              <a:ext cx="0" cy="417931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6" name="Straight Connector 17535">
              <a:extLst>
                <a:ext uri="{FF2B5EF4-FFF2-40B4-BE49-F238E27FC236}">
                  <a16:creationId xmlns:a16="http://schemas.microsoft.com/office/drawing/2014/main" id="{E90E82C7-A99F-346F-526C-518BFE56E72F}"/>
                </a:ext>
              </a:extLst>
            </p:cNvPr>
            <p:cNvCxnSpPr>
              <a:cxnSpLocks/>
            </p:cNvCxnSpPr>
            <p:nvPr/>
          </p:nvCxnSpPr>
          <p:spPr>
            <a:xfrm>
              <a:off x="4722137" y="5417061"/>
              <a:ext cx="0" cy="417931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7" name="Straight Connector 17536">
              <a:extLst>
                <a:ext uri="{FF2B5EF4-FFF2-40B4-BE49-F238E27FC236}">
                  <a16:creationId xmlns:a16="http://schemas.microsoft.com/office/drawing/2014/main" id="{B030C2BA-CFD6-B027-7DDA-53606197CD13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5417061"/>
              <a:ext cx="0" cy="417931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540" name="Picture 17539">
            <a:extLst>
              <a:ext uri="{FF2B5EF4-FFF2-40B4-BE49-F238E27FC236}">
                <a16:creationId xmlns:a16="http://schemas.microsoft.com/office/drawing/2014/main" id="{0D0F8626-00ED-6F66-CECD-60CF558068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3297" y="4296231"/>
            <a:ext cx="377659" cy="377659"/>
          </a:xfrm>
          <a:prstGeom prst="rect">
            <a:avLst/>
          </a:prstGeom>
        </p:spPr>
      </p:pic>
      <p:pic>
        <p:nvPicPr>
          <p:cNvPr id="17542" name="Picture 17541">
            <a:extLst>
              <a:ext uri="{FF2B5EF4-FFF2-40B4-BE49-F238E27FC236}">
                <a16:creationId xmlns:a16="http://schemas.microsoft.com/office/drawing/2014/main" id="{7F641471-AF20-87A1-FDEB-7B42C80537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9464" y="4412909"/>
            <a:ext cx="331916" cy="243838"/>
          </a:xfrm>
          <a:prstGeom prst="rect">
            <a:avLst/>
          </a:prstGeom>
        </p:spPr>
      </p:pic>
      <p:pic>
        <p:nvPicPr>
          <p:cNvPr id="17543" name="Picture 17542">
            <a:extLst>
              <a:ext uri="{FF2B5EF4-FFF2-40B4-BE49-F238E27FC236}">
                <a16:creationId xmlns:a16="http://schemas.microsoft.com/office/drawing/2014/main" id="{1B452087-044C-634C-94B3-2F56506C87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7260" y="4434795"/>
            <a:ext cx="303161" cy="230748"/>
          </a:xfrm>
          <a:prstGeom prst="rect">
            <a:avLst/>
          </a:prstGeom>
        </p:spPr>
      </p:pic>
      <p:cxnSp>
        <p:nvCxnSpPr>
          <p:cNvPr id="17544" name="Straight Connector 17543">
            <a:extLst>
              <a:ext uri="{FF2B5EF4-FFF2-40B4-BE49-F238E27FC236}">
                <a16:creationId xmlns:a16="http://schemas.microsoft.com/office/drawing/2014/main" id="{E707DD6A-E2E2-1C3D-F5CC-A8B82624E3D7}"/>
              </a:ext>
            </a:extLst>
          </p:cNvPr>
          <p:cNvCxnSpPr>
            <a:cxnSpLocks/>
          </p:cNvCxnSpPr>
          <p:nvPr/>
        </p:nvCxnSpPr>
        <p:spPr>
          <a:xfrm>
            <a:off x="2723211" y="4339864"/>
            <a:ext cx="3790" cy="601376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6" name="Straight Connector 17545">
            <a:extLst>
              <a:ext uri="{FF2B5EF4-FFF2-40B4-BE49-F238E27FC236}">
                <a16:creationId xmlns:a16="http://schemas.microsoft.com/office/drawing/2014/main" id="{9F2F6A87-BC63-FC64-97F4-586601925C01}"/>
              </a:ext>
            </a:extLst>
          </p:cNvPr>
          <p:cNvCxnSpPr>
            <a:cxnSpLocks/>
          </p:cNvCxnSpPr>
          <p:nvPr/>
        </p:nvCxnSpPr>
        <p:spPr>
          <a:xfrm>
            <a:off x="3544576" y="4344643"/>
            <a:ext cx="3790" cy="601376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7" name="Straight Connector 17546">
            <a:extLst>
              <a:ext uri="{FF2B5EF4-FFF2-40B4-BE49-F238E27FC236}">
                <a16:creationId xmlns:a16="http://schemas.microsoft.com/office/drawing/2014/main" id="{72DC6CE1-5960-301D-0EAB-4C9FA92E4C10}"/>
              </a:ext>
            </a:extLst>
          </p:cNvPr>
          <p:cNvCxnSpPr>
            <a:cxnSpLocks/>
          </p:cNvCxnSpPr>
          <p:nvPr/>
        </p:nvCxnSpPr>
        <p:spPr>
          <a:xfrm>
            <a:off x="4348707" y="4470296"/>
            <a:ext cx="0" cy="479529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8" name="Straight Connector 17547">
            <a:extLst>
              <a:ext uri="{FF2B5EF4-FFF2-40B4-BE49-F238E27FC236}">
                <a16:creationId xmlns:a16="http://schemas.microsoft.com/office/drawing/2014/main" id="{61BF3A36-22D3-CF00-6BE5-17602CAF012A}"/>
              </a:ext>
            </a:extLst>
          </p:cNvPr>
          <p:cNvCxnSpPr>
            <a:cxnSpLocks/>
          </p:cNvCxnSpPr>
          <p:nvPr/>
        </p:nvCxnSpPr>
        <p:spPr>
          <a:xfrm>
            <a:off x="5842136" y="4342629"/>
            <a:ext cx="3790" cy="601376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50" name="Picture 17549">
            <a:extLst>
              <a:ext uri="{FF2B5EF4-FFF2-40B4-BE49-F238E27FC236}">
                <a16:creationId xmlns:a16="http://schemas.microsoft.com/office/drawing/2014/main" id="{F5087008-E6FB-4D1B-814D-60911BED0E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6126" y="4454107"/>
            <a:ext cx="303161" cy="230748"/>
          </a:xfrm>
          <a:prstGeom prst="rect">
            <a:avLst/>
          </a:prstGeom>
        </p:spPr>
      </p:pic>
      <p:pic>
        <p:nvPicPr>
          <p:cNvPr id="17551" name="Picture 17550">
            <a:extLst>
              <a:ext uri="{FF2B5EF4-FFF2-40B4-BE49-F238E27FC236}">
                <a16:creationId xmlns:a16="http://schemas.microsoft.com/office/drawing/2014/main" id="{405045EA-B4AE-19A0-7B51-FD70E99258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7690" y="4454107"/>
            <a:ext cx="303161" cy="230748"/>
          </a:xfrm>
          <a:prstGeom prst="rect">
            <a:avLst/>
          </a:prstGeom>
        </p:spPr>
      </p:pic>
      <p:cxnSp>
        <p:nvCxnSpPr>
          <p:cNvPr id="17552" name="Straight Connector 17551">
            <a:extLst>
              <a:ext uri="{FF2B5EF4-FFF2-40B4-BE49-F238E27FC236}">
                <a16:creationId xmlns:a16="http://schemas.microsoft.com/office/drawing/2014/main" id="{68D215FF-1BF9-46CB-06DD-2F28320C3333}"/>
              </a:ext>
            </a:extLst>
          </p:cNvPr>
          <p:cNvCxnSpPr>
            <a:cxnSpLocks/>
          </p:cNvCxnSpPr>
          <p:nvPr/>
        </p:nvCxnSpPr>
        <p:spPr>
          <a:xfrm>
            <a:off x="5122899" y="4464476"/>
            <a:ext cx="0" cy="479529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3" name="Straight Connector 17552">
            <a:extLst>
              <a:ext uri="{FF2B5EF4-FFF2-40B4-BE49-F238E27FC236}">
                <a16:creationId xmlns:a16="http://schemas.microsoft.com/office/drawing/2014/main" id="{046D45A5-D495-F137-BAB1-D4042FE3EBA2}"/>
              </a:ext>
            </a:extLst>
          </p:cNvPr>
          <p:cNvCxnSpPr>
            <a:cxnSpLocks/>
          </p:cNvCxnSpPr>
          <p:nvPr/>
        </p:nvCxnSpPr>
        <p:spPr>
          <a:xfrm>
            <a:off x="6569074" y="4347577"/>
            <a:ext cx="3790" cy="601376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54" name="Picture 17553">
            <a:extLst>
              <a:ext uri="{FF2B5EF4-FFF2-40B4-BE49-F238E27FC236}">
                <a16:creationId xmlns:a16="http://schemas.microsoft.com/office/drawing/2014/main" id="{C5DB707A-28E7-D7E0-99CF-2B025A286F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66450" y="4445786"/>
            <a:ext cx="303161" cy="230748"/>
          </a:xfrm>
          <a:prstGeom prst="rect">
            <a:avLst/>
          </a:prstGeom>
        </p:spPr>
      </p:pic>
      <p:sp>
        <p:nvSpPr>
          <p:cNvPr id="17556" name="TextBox 17555">
            <a:extLst>
              <a:ext uri="{FF2B5EF4-FFF2-40B4-BE49-F238E27FC236}">
                <a16:creationId xmlns:a16="http://schemas.microsoft.com/office/drawing/2014/main" id="{E91E079D-0773-FB75-77A6-4A15EC237FCA}"/>
              </a:ext>
            </a:extLst>
          </p:cNvPr>
          <p:cNvSpPr txBox="1"/>
          <p:nvPr/>
        </p:nvSpPr>
        <p:spPr>
          <a:xfrm>
            <a:off x="7761294" y="2585129"/>
            <a:ext cx="1219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On-chain data</a:t>
            </a:r>
            <a:endParaRPr lang="en-IN" sz="1100" dirty="0"/>
          </a:p>
        </p:txBody>
      </p:sp>
      <p:sp>
        <p:nvSpPr>
          <p:cNvPr id="17557" name="TextBox 17556">
            <a:extLst>
              <a:ext uri="{FF2B5EF4-FFF2-40B4-BE49-F238E27FC236}">
                <a16:creationId xmlns:a16="http://schemas.microsoft.com/office/drawing/2014/main" id="{A8426115-BA08-EAC2-49A5-A4D691ED617E}"/>
              </a:ext>
            </a:extLst>
          </p:cNvPr>
          <p:cNvSpPr txBox="1"/>
          <p:nvPr/>
        </p:nvSpPr>
        <p:spPr>
          <a:xfrm>
            <a:off x="7814302" y="3320165"/>
            <a:ext cx="1185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Hinglish-ready</a:t>
            </a:r>
          </a:p>
        </p:txBody>
      </p:sp>
      <p:sp>
        <p:nvSpPr>
          <p:cNvPr id="17558" name="TextBox 17557">
            <a:extLst>
              <a:ext uri="{FF2B5EF4-FFF2-40B4-BE49-F238E27FC236}">
                <a16:creationId xmlns:a16="http://schemas.microsoft.com/office/drawing/2014/main" id="{751178CA-124B-9F8F-9A89-FFCCA72E9F22}"/>
              </a:ext>
            </a:extLst>
          </p:cNvPr>
          <p:cNvSpPr txBox="1"/>
          <p:nvPr/>
        </p:nvSpPr>
        <p:spPr>
          <a:xfrm>
            <a:off x="7731501" y="4029010"/>
            <a:ext cx="1309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Identity verification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Email + OTP</a:t>
            </a:r>
          </a:p>
        </p:txBody>
      </p:sp>
      <p:cxnSp>
        <p:nvCxnSpPr>
          <p:cNvPr id="17559" name="Straight Arrow Connector 17558">
            <a:extLst>
              <a:ext uri="{FF2B5EF4-FFF2-40B4-BE49-F238E27FC236}">
                <a16:creationId xmlns:a16="http://schemas.microsoft.com/office/drawing/2014/main" id="{BF6DBAAE-E19C-0512-B574-5B270701C9D2}"/>
              </a:ext>
            </a:extLst>
          </p:cNvPr>
          <p:cNvCxnSpPr>
            <a:cxnSpLocks/>
          </p:cNvCxnSpPr>
          <p:nvPr/>
        </p:nvCxnSpPr>
        <p:spPr>
          <a:xfrm>
            <a:off x="4549202" y="4987869"/>
            <a:ext cx="2200" cy="182648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69" name="Straight Arrow Connector 17568">
            <a:extLst>
              <a:ext uri="{FF2B5EF4-FFF2-40B4-BE49-F238E27FC236}">
                <a16:creationId xmlns:a16="http://schemas.microsoft.com/office/drawing/2014/main" id="{A6918A7F-80F1-2FA7-4C6B-274B5F5003BB}"/>
              </a:ext>
            </a:extLst>
          </p:cNvPr>
          <p:cNvCxnSpPr>
            <a:cxnSpLocks/>
          </p:cNvCxnSpPr>
          <p:nvPr/>
        </p:nvCxnSpPr>
        <p:spPr>
          <a:xfrm>
            <a:off x="3538836" y="2979881"/>
            <a:ext cx="5740" cy="13222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75" name="Straight Arrow Connector 17574">
            <a:extLst>
              <a:ext uri="{FF2B5EF4-FFF2-40B4-BE49-F238E27FC236}">
                <a16:creationId xmlns:a16="http://schemas.microsoft.com/office/drawing/2014/main" id="{2758FB68-36D2-032C-8DFA-B9D876F9CCDA}"/>
              </a:ext>
            </a:extLst>
          </p:cNvPr>
          <p:cNvCxnSpPr>
            <a:cxnSpLocks/>
            <a:stCxn id="17412" idx="3"/>
            <a:endCxn id="17415" idx="1"/>
          </p:cNvCxnSpPr>
          <p:nvPr/>
        </p:nvCxnSpPr>
        <p:spPr>
          <a:xfrm>
            <a:off x="2898779" y="2546278"/>
            <a:ext cx="105113" cy="149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79" name="Straight Arrow Connector 17578">
            <a:extLst>
              <a:ext uri="{FF2B5EF4-FFF2-40B4-BE49-F238E27FC236}">
                <a16:creationId xmlns:a16="http://schemas.microsoft.com/office/drawing/2014/main" id="{379F7961-2C52-9C8C-F93D-F3865C7B9895}"/>
              </a:ext>
            </a:extLst>
          </p:cNvPr>
          <p:cNvCxnSpPr>
            <a:cxnSpLocks/>
          </p:cNvCxnSpPr>
          <p:nvPr/>
        </p:nvCxnSpPr>
        <p:spPr>
          <a:xfrm>
            <a:off x="4065729" y="2547842"/>
            <a:ext cx="105113" cy="149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80" name="Straight Arrow Connector 17579">
            <a:extLst>
              <a:ext uri="{FF2B5EF4-FFF2-40B4-BE49-F238E27FC236}">
                <a16:creationId xmlns:a16="http://schemas.microsoft.com/office/drawing/2014/main" id="{144A20D4-70B2-F936-FB2B-1591398BD456}"/>
              </a:ext>
            </a:extLst>
          </p:cNvPr>
          <p:cNvCxnSpPr>
            <a:cxnSpLocks/>
            <a:endCxn id="17417" idx="1"/>
          </p:cNvCxnSpPr>
          <p:nvPr/>
        </p:nvCxnSpPr>
        <p:spPr>
          <a:xfrm flipV="1">
            <a:off x="5248980" y="2547767"/>
            <a:ext cx="76582" cy="7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82" name="Straight Arrow Connector 17581">
            <a:extLst>
              <a:ext uri="{FF2B5EF4-FFF2-40B4-BE49-F238E27FC236}">
                <a16:creationId xmlns:a16="http://schemas.microsoft.com/office/drawing/2014/main" id="{5FA009C4-2DF6-64A5-6162-D2D4505B8EDB}"/>
              </a:ext>
            </a:extLst>
          </p:cNvPr>
          <p:cNvCxnSpPr>
            <a:cxnSpLocks/>
            <a:stCxn id="17417" idx="3"/>
          </p:cNvCxnSpPr>
          <p:nvPr/>
        </p:nvCxnSpPr>
        <p:spPr>
          <a:xfrm flipV="1">
            <a:off x="6288987" y="2547189"/>
            <a:ext cx="80624" cy="5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90" name="Straight Arrow Connector 17589">
            <a:extLst>
              <a:ext uri="{FF2B5EF4-FFF2-40B4-BE49-F238E27FC236}">
                <a16:creationId xmlns:a16="http://schemas.microsoft.com/office/drawing/2014/main" id="{18736028-C3F1-605B-10D2-1F305F6E5833}"/>
              </a:ext>
            </a:extLst>
          </p:cNvPr>
          <p:cNvCxnSpPr>
            <a:cxnSpLocks/>
            <a:endCxn id="17422" idx="1"/>
          </p:cNvCxnSpPr>
          <p:nvPr/>
        </p:nvCxnSpPr>
        <p:spPr>
          <a:xfrm>
            <a:off x="5880847" y="3573882"/>
            <a:ext cx="114223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93" name="TextBox 17592">
            <a:extLst>
              <a:ext uri="{FF2B5EF4-FFF2-40B4-BE49-F238E27FC236}">
                <a16:creationId xmlns:a16="http://schemas.microsoft.com/office/drawing/2014/main" id="{6A4BED77-FAE1-F94C-4E0A-5A8AD6DE95B2}"/>
              </a:ext>
            </a:extLst>
          </p:cNvPr>
          <p:cNvSpPr txBox="1"/>
          <p:nvPr/>
        </p:nvSpPr>
        <p:spPr>
          <a:xfrm>
            <a:off x="1783814" y="2436475"/>
            <a:ext cx="11484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Hinglish 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Checksums + PII mask</a:t>
            </a:r>
            <a:endParaRPr lang="en-IN" sz="900" dirty="0"/>
          </a:p>
        </p:txBody>
      </p:sp>
      <p:sp>
        <p:nvSpPr>
          <p:cNvPr id="17594" name="TextBox 17593">
            <a:extLst>
              <a:ext uri="{FF2B5EF4-FFF2-40B4-BE49-F238E27FC236}">
                <a16:creationId xmlns:a16="http://schemas.microsoft.com/office/drawing/2014/main" id="{D8BC2BFB-83EE-0C02-4A39-ED338B5B9CD4}"/>
              </a:ext>
            </a:extLst>
          </p:cNvPr>
          <p:cNvSpPr txBox="1"/>
          <p:nvPr/>
        </p:nvSpPr>
        <p:spPr>
          <a:xfrm>
            <a:off x="2970366" y="2382254"/>
            <a:ext cx="1137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Every wallet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Cross-state match</a:t>
            </a:r>
          </a:p>
        </p:txBody>
      </p:sp>
      <p:sp>
        <p:nvSpPr>
          <p:cNvPr id="17595" name="TextBox 17594">
            <a:extLst>
              <a:ext uri="{FF2B5EF4-FFF2-40B4-BE49-F238E27FC236}">
                <a16:creationId xmlns:a16="http://schemas.microsoft.com/office/drawing/2014/main" id="{C7AB6937-5E3F-4833-5E1D-F1CD4EB3B585}"/>
              </a:ext>
            </a:extLst>
          </p:cNvPr>
          <p:cNvSpPr txBox="1"/>
          <p:nvPr/>
        </p:nvSpPr>
        <p:spPr>
          <a:xfrm>
            <a:off x="4146015" y="2445093"/>
            <a:ext cx="11835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Multichain trace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Sweep + bridge + cold-trail</a:t>
            </a:r>
          </a:p>
        </p:txBody>
      </p:sp>
      <p:sp>
        <p:nvSpPr>
          <p:cNvPr id="17596" name="TextBox 17595">
            <a:extLst>
              <a:ext uri="{FF2B5EF4-FFF2-40B4-BE49-F238E27FC236}">
                <a16:creationId xmlns:a16="http://schemas.microsoft.com/office/drawing/2014/main" id="{FF40FDB8-7CCA-D060-E6D2-12E6D014DD69}"/>
              </a:ext>
            </a:extLst>
          </p:cNvPr>
          <p:cNvSpPr txBox="1"/>
          <p:nvPr/>
        </p:nvSpPr>
        <p:spPr>
          <a:xfrm>
            <a:off x="5228027" y="2445093"/>
            <a:ext cx="117277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/>
              <a:t>Noisy-OR + SHAP</a:t>
            </a: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What-if verdict</a:t>
            </a:r>
          </a:p>
        </p:txBody>
      </p:sp>
      <p:sp>
        <p:nvSpPr>
          <p:cNvPr id="17597" name="TextBox 17596">
            <a:extLst>
              <a:ext uri="{FF2B5EF4-FFF2-40B4-BE49-F238E27FC236}">
                <a16:creationId xmlns:a16="http://schemas.microsoft.com/office/drawing/2014/main" id="{AD883400-B54F-A358-ED0E-50AC0E582D6F}"/>
              </a:ext>
            </a:extLst>
          </p:cNvPr>
          <p:cNvSpPr txBox="1"/>
          <p:nvPr/>
        </p:nvSpPr>
        <p:spPr>
          <a:xfrm>
            <a:off x="6305157" y="2452622"/>
            <a:ext cx="12403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Hash manifest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Integrity Verification</a:t>
            </a:r>
          </a:p>
        </p:txBody>
      </p:sp>
      <p:sp>
        <p:nvSpPr>
          <p:cNvPr id="17598" name="TextBox 17597">
            <a:extLst>
              <a:ext uri="{FF2B5EF4-FFF2-40B4-BE49-F238E27FC236}">
                <a16:creationId xmlns:a16="http://schemas.microsoft.com/office/drawing/2014/main" id="{EAA8123E-7318-0024-47D8-82190BFAF380}"/>
              </a:ext>
            </a:extLst>
          </p:cNvPr>
          <p:cNvSpPr txBox="1"/>
          <p:nvPr/>
        </p:nvSpPr>
        <p:spPr>
          <a:xfrm>
            <a:off x="1877956" y="3445679"/>
            <a:ext cx="137348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BNSS/BSA drafts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SAHYOG export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MLAT / FIU routing</a:t>
            </a:r>
            <a:endParaRPr lang="en-IN" sz="900" dirty="0"/>
          </a:p>
        </p:txBody>
      </p:sp>
      <p:sp>
        <p:nvSpPr>
          <p:cNvPr id="17599" name="TextBox 17598">
            <a:extLst>
              <a:ext uri="{FF2B5EF4-FFF2-40B4-BE49-F238E27FC236}">
                <a16:creationId xmlns:a16="http://schemas.microsoft.com/office/drawing/2014/main" id="{00B9E42B-9AAC-FC01-642D-0F50C54ECC70}"/>
              </a:ext>
            </a:extLst>
          </p:cNvPr>
          <p:cNvSpPr txBox="1"/>
          <p:nvPr/>
        </p:nvSpPr>
        <p:spPr>
          <a:xfrm>
            <a:off x="3381356" y="3435472"/>
            <a:ext cx="12291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Hash-chained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2-officer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Immutable record</a:t>
            </a:r>
            <a:endParaRPr lang="en-IN" sz="900" dirty="0"/>
          </a:p>
        </p:txBody>
      </p:sp>
      <p:sp>
        <p:nvSpPr>
          <p:cNvPr id="17600" name="TextBox 17599">
            <a:extLst>
              <a:ext uri="{FF2B5EF4-FFF2-40B4-BE49-F238E27FC236}">
                <a16:creationId xmlns:a16="http://schemas.microsoft.com/office/drawing/2014/main" id="{BA8E17D2-25BD-E676-6ACA-57EC3039D677}"/>
              </a:ext>
            </a:extLst>
          </p:cNvPr>
          <p:cNvSpPr txBox="1"/>
          <p:nvPr/>
        </p:nvSpPr>
        <p:spPr>
          <a:xfrm>
            <a:off x="4585862" y="3430127"/>
            <a:ext cx="13390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OFAC / UN lists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Proximity risk spread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USDT freeze check</a:t>
            </a:r>
            <a:endParaRPr lang="en-IN" sz="900" dirty="0"/>
          </a:p>
        </p:txBody>
      </p:sp>
      <p:sp>
        <p:nvSpPr>
          <p:cNvPr id="17601" name="TextBox 17600">
            <a:extLst>
              <a:ext uri="{FF2B5EF4-FFF2-40B4-BE49-F238E27FC236}">
                <a16:creationId xmlns:a16="http://schemas.microsoft.com/office/drawing/2014/main" id="{A6F95BE8-8776-90B9-A83F-2A265AD66E86}"/>
              </a:ext>
            </a:extLst>
          </p:cNvPr>
          <p:cNvSpPr txBox="1"/>
          <p:nvPr/>
        </p:nvSpPr>
        <p:spPr>
          <a:xfrm>
            <a:off x="6036247" y="3432970"/>
            <a:ext cx="12250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Next-hop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VASP alerts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SLA tracker</a:t>
            </a:r>
            <a:endParaRPr lang="en-IN" sz="900" dirty="0"/>
          </a:p>
        </p:txBody>
      </p:sp>
      <p:sp>
        <p:nvSpPr>
          <p:cNvPr id="17609" name="TextBox 17608">
            <a:extLst>
              <a:ext uri="{FF2B5EF4-FFF2-40B4-BE49-F238E27FC236}">
                <a16:creationId xmlns:a16="http://schemas.microsoft.com/office/drawing/2014/main" id="{F7ECB767-FF4A-CAC0-7F6B-F223CBAF7665}"/>
              </a:ext>
            </a:extLst>
          </p:cNvPr>
          <p:cNvSpPr txBox="1"/>
          <p:nvPr/>
        </p:nvSpPr>
        <p:spPr>
          <a:xfrm>
            <a:off x="155306" y="1124850"/>
            <a:ext cx="10937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Victim files complaint in any language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11" name="Straight Connector 17610">
            <a:extLst>
              <a:ext uri="{FF2B5EF4-FFF2-40B4-BE49-F238E27FC236}">
                <a16:creationId xmlns:a16="http://schemas.microsoft.com/office/drawing/2014/main" id="{882CB53A-2E51-ACC2-E2FF-DF734AE7FA97}"/>
              </a:ext>
            </a:extLst>
          </p:cNvPr>
          <p:cNvCxnSpPr>
            <a:cxnSpLocks/>
          </p:cNvCxnSpPr>
          <p:nvPr/>
        </p:nvCxnSpPr>
        <p:spPr>
          <a:xfrm flipH="1">
            <a:off x="1055944" y="1193593"/>
            <a:ext cx="188046" cy="400599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15" name="TextBox 17614">
            <a:extLst>
              <a:ext uri="{FF2B5EF4-FFF2-40B4-BE49-F238E27FC236}">
                <a16:creationId xmlns:a16="http://schemas.microsoft.com/office/drawing/2014/main" id="{9E1413A5-3083-C5BB-EB39-3F66CF77DB73}"/>
              </a:ext>
            </a:extLst>
          </p:cNvPr>
          <p:cNvSpPr txBox="1"/>
          <p:nvPr/>
        </p:nvSpPr>
        <p:spPr>
          <a:xfrm>
            <a:off x="1229587" y="1110336"/>
            <a:ext cx="10409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Smart Intake + national memory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18" name="TextBox 17617">
            <a:extLst>
              <a:ext uri="{FF2B5EF4-FFF2-40B4-BE49-F238E27FC236}">
                <a16:creationId xmlns:a16="http://schemas.microsoft.com/office/drawing/2014/main" id="{A4405E99-1CF9-9632-3F10-996BE8D75288}"/>
              </a:ext>
            </a:extLst>
          </p:cNvPr>
          <p:cNvSpPr txBox="1"/>
          <p:nvPr/>
        </p:nvSpPr>
        <p:spPr>
          <a:xfrm>
            <a:off x="2351487" y="1451707"/>
            <a:ext cx="1020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Trace Funds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19" name="TextBox 17618">
            <a:extLst>
              <a:ext uri="{FF2B5EF4-FFF2-40B4-BE49-F238E27FC236}">
                <a16:creationId xmlns:a16="http://schemas.microsoft.com/office/drawing/2014/main" id="{39CF94FB-FCD2-8BA5-6B11-010191DEF5E3}"/>
              </a:ext>
            </a:extLst>
          </p:cNvPr>
          <p:cNvSpPr txBox="1"/>
          <p:nvPr/>
        </p:nvSpPr>
        <p:spPr>
          <a:xfrm>
            <a:off x="3572000" y="1191540"/>
            <a:ext cx="962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Hop-by-hop checks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20" name="TextBox 17619">
            <a:extLst>
              <a:ext uri="{FF2B5EF4-FFF2-40B4-BE49-F238E27FC236}">
                <a16:creationId xmlns:a16="http://schemas.microsoft.com/office/drawing/2014/main" id="{D18FD7DD-06CE-E441-2898-E810B16C8351}"/>
              </a:ext>
            </a:extLst>
          </p:cNvPr>
          <p:cNvSpPr txBox="1"/>
          <p:nvPr/>
        </p:nvSpPr>
        <p:spPr>
          <a:xfrm>
            <a:off x="4676290" y="1221557"/>
            <a:ext cx="12358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Gang / FIR‑dedup‑check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21" name="TextBox 17620">
            <a:extLst>
              <a:ext uri="{FF2B5EF4-FFF2-40B4-BE49-F238E27FC236}">
                <a16:creationId xmlns:a16="http://schemas.microsoft.com/office/drawing/2014/main" id="{08A252CB-9D25-7916-05A7-90BF6CC7EDF4}"/>
              </a:ext>
            </a:extLst>
          </p:cNvPr>
          <p:cNvSpPr txBox="1"/>
          <p:nvPr/>
        </p:nvSpPr>
        <p:spPr>
          <a:xfrm>
            <a:off x="5978536" y="1228159"/>
            <a:ext cx="1267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Risk +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VASP attribution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22" name="TextBox 17621">
            <a:extLst>
              <a:ext uri="{FF2B5EF4-FFF2-40B4-BE49-F238E27FC236}">
                <a16:creationId xmlns:a16="http://schemas.microsoft.com/office/drawing/2014/main" id="{673AE3B5-3EEA-1D79-B7EE-56CF22FF5C92}"/>
              </a:ext>
            </a:extLst>
          </p:cNvPr>
          <p:cNvSpPr txBox="1"/>
          <p:nvPr/>
        </p:nvSpPr>
        <p:spPr>
          <a:xfrm>
            <a:off x="7261248" y="1129473"/>
            <a:ext cx="11789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Officer approval + send request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(BNSS/MLAT)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26" name="Straight Arrow Connector 17625">
            <a:extLst>
              <a:ext uri="{FF2B5EF4-FFF2-40B4-BE49-F238E27FC236}">
                <a16:creationId xmlns:a16="http://schemas.microsoft.com/office/drawing/2014/main" id="{F953DCF3-0449-1839-1B65-03F7B51814F3}"/>
              </a:ext>
            </a:extLst>
          </p:cNvPr>
          <p:cNvCxnSpPr>
            <a:cxnSpLocks/>
            <a:endCxn id="17450" idx="1"/>
          </p:cNvCxnSpPr>
          <p:nvPr/>
        </p:nvCxnSpPr>
        <p:spPr>
          <a:xfrm>
            <a:off x="2182484" y="1398431"/>
            <a:ext cx="131285" cy="5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31" name="Straight Arrow Connector 17630">
            <a:extLst>
              <a:ext uri="{FF2B5EF4-FFF2-40B4-BE49-F238E27FC236}">
                <a16:creationId xmlns:a16="http://schemas.microsoft.com/office/drawing/2014/main" id="{223999BC-F0D5-A0D6-3B51-CC9C9CC65F44}"/>
              </a:ext>
            </a:extLst>
          </p:cNvPr>
          <p:cNvCxnSpPr>
            <a:cxnSpLocks/>
          </p:cNvCxnSpPr>
          <p:nvPr/>
        </p:nvCxnSpPr>
        <p:spPr>
          <a:xfrm>
            <a:off x="3324164" y="1382279"/>
            <a:ext cx="131284" cy="5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33" name="Straight Arrow Connector 17632">
            <a:extLst>
              <a:ext uri="{FF2B5EF4-FFF2-40B4-BE49-F238E27FC236}">
                <a16:creationId xmlns:a16="http://schemas.microsoft.com/office/drawing/2014/main" id="{85EF40EC-2A73-A5BF-6710-460131AA24FE}"/>
              </a:ext>
            </a:extLst>
          </p:cNvPr>
          <p:cNvCxnSpPr>
            <a:cxnSpLocks/>
          </p:cNvCxnSpPr>
          <p:nvPr/>
        </p:nvCxnSpPr>
        <p:spPr>
          <a:xfrm>
            <a:off x="5860192" y="1387353"/>
            <a:ext cx="131284" cy="5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34" name="Straight Arrow Connector 17633">
            <a:extLst>
              <a:ext uri="{FF2B5EF4-FFF2-40B4-BE49-F238E27FC236}">
                <a16:creationId xmlns:a16="http://schemas.microsoft.com/office/drawing/2014/main" id="{8A1A6F99-D82E-3656-99F7-5BECD91F0F25}"/>
              </a:ext>
            </a:extLst>
          </p:cNvPr>
          <p:cNvCxnSpPr>
            <a:cxnSpLocks/>
          </p:cNvCxnSpPr>
          <p:nvPr/>
        </p:nvCxnSpPr>
        <p:spPr>
          <a:xfrm>
            <a:off x="7170881" y="1382279"/>
            <a:ext cx="131284" cy="5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35" name="Rectangle 17634">
            <a:extLst>
              <a:ext uri="{FF2B5EF4-FFF2-40B4-BE49-F238E27FC236}">
                <a16:creationId xmlns:a16="http://schemas.microsoft.com/office/drawing/2014/main" id="{E1D6DE2E-D8A4-280A-8F27-4D8E1EE24736}"/>
              </a:ext>
            </a:extLst>
          </p:cNvPr>
          <p:cNvSpPr/>
          <p:nvPr/>
        </p:nvSpPr>
        <p:spPr>
          <a:xfrm>
            <a:off x="8490896" y="1140458"/>
            <a:ext cx="607837" cy="520696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636" name="Straight Arrow Connector 17635">
            <a:extLst>
              <a:ext uri="{FF2B5EF4-FFF2-40B4-BE49-F238E27FC236}">
                <a16:creationId xmlns:a16="http://schemas.microsoft.com/office/drawing/2014/main" id="{865B97DB-8378-3AB8-3E25-45ED59EEF06B}"/>
              </a:ext>
            </a:extLst>
          </p:cNvPr>
          <p:cNvCxnSpPr>
            <a:cxnSpLocks/>
          </p:cNvCxnSpPr>
          <p:nvPr/>
        </p:nvCxnSpPr>
        <p:spPr>
          <a:xfrm>
            <a:off x="8359612" y="1392288"/>
            <a:ext cx="131284" cy="5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37" name="Rectangle: Rounded Corners 17636">
            <a:extLst>
              <a:ext uri="{FF2B5EF4-FFF2-40B4-BE49-F238E27FC236}">
                <a16:creationId xmlns:a16="http://schemas.microsoft.com/office/drawing/2014/main" id="{62D2468D-DEF0-C5D1-B917-12E2520B72C1}"/>
              </a:ext>
            </a:extLst>
          </p:cNvPr>
          <p:cNvSpPr/>
          <p:nvPr/>
        </p:nvSpPr>
        <p:spPr>
          <a:xfrm>
            <a:off x="3881718" y="809126"/>
            <a:ext cx="1759133" cy="247228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38" name="TextBox 17637">
            <a:extLst>
              <a:ext uri="{FF2B5EF4-FFF2-40B4-BE49-F238E27FC236}">
                <a16:creationId xmlns:a16="http://schemas.microsoft.com/office/drawing/2014/main" id="{000E8DB3-7439-1B69-8CBE-63D288494091}"/>
              </a:ext>
            </a:extLst>
          </p:cNvPr>
          <p:cNvSpPr txBox="1"/>
          <p:nvPr/>
        </p:nvSpPr>
        <p:spPr>
          <a:xfrm>
            <a:off x="4247105" y="779774"/>
            <a:ext cx="1165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WORKFLOW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17654" name="Straight Arrow Connector 17653">
            <a:extLst>
              <a:ext uri="{FF2B5EF4-FFF2-40B4-BE49-F238E27FC236}">
                <a16:creationId xmlns:a16="http://schemas.microsoft.com/office/drawing/2014/main" id="{6E472D2E-B2CF-B08C-FEE5-53A91BFECB7D}"/>
              </a:ext>
            </a:extLst>
          </p:cNvPr>
          <p:cNvCxnSpPr>
            <a:cxnSpLocks/>
          </p:cNvCxnSpPr>
          <p:nvPr/>
        </p:nvCxnSpPr>
        <p:spPr>
          <a:xfrm>
            <a:off x="4559391" y="1387353"/>
            <a:ext cx="131284" cy="5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55" name="TextBox 17654">
            <a:extLst>
              <a:ext uri="{FF2B5EF4-FFF2-40B4-BE49-F238E27FC236}">
                <a16:creationId xmlns:a16="http://schemas.microsoft.com/office/drawing/2014/main" id="{826DCC1B-3E77-DC35-499D-975C1EFDB6FB}"/>
              </a:ext>
            </a:extLst>
          </p:cNvPr>
          <p:cNvSpPr txBox="1"/>
          <p:nvPr/>
        </p:nvSpPr>
        <p:spPr>
          <a:xfrm>
            <a:off x="8505166" y="1165894"/>
            <a:ext cx="634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Final Output</a:t>
            </a:r>
            <a:endParaRPr lang="en-IN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675" name="Picture 17674">
            <a:extLst>
              <a:ext uri="{FF2B5EF4-FFF2-40B4-BE49-F238E27FC236}">
                <a16:creationId xmlns:a16="http://schemas.microsoft.com/office/drawing/2014/main" id="{38AB4A31-6FA9-556F-10BB-DB3DA083747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25793"/>
          <a:stretch>
            <a:fillRect/>
          </a:stretch>
        </p:blipFill>
        <p:spPr>
          <a:xfrm>
            <a:off x="2396144" y="1129473"/>
            <a:ext cx="826691" cy="355123"/>
          </a:xfrm>
          <a:prstGeom prst="rect">
            <a:avLst/>
          </a:prstGeom>
        </p:spPr>
      </p:pic>
      <p:pic>
        <p:nvPicPr>
          <p:cNvPr id="17681" name="Graphic 17680" descr="Gauge with solid fill">
            <a:extLst>
              <a:ext uri="{FF2B5EF4-FFF2-40B4-BE49-F238E27FC236}">
                <a16:creationId xmlns:a16="http://schemas.microsoft.com/office/drawing/2014/main" id="{A77FE357-A487-9C71-B2C3-6379FBE04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72864" y="1103208"/>
            <a:ext cx="380019" cy="380019"/>
          </a:xfrm>
          <a:prstGeom prst="rect">
            <a:avLst/>
          </a:prstGeom>
        </p:spPr>
      </p:pic>
      <p:pic>
        <p:nvPicPr>
          <p:cNvPr id="17683" name="Graphic 17682" descr="Network with solid fill">
            <a:extLst>
              <a:ext uri="{FF2B5EF4-FFF2-40B4-BE49-F238E27FC236}">
                <a16:creationId xmlns:a16="http://schemas.microsoft.com/office/drawing/2014/main" id="{6E0EED2B-7F23-6402-E7DA-717800F2A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79304" y="1172777"/>
            <a:ext cx="261547" cy="261547"/>
          </a:xfrm>
          <a:prstGeom prst="rect">
            <a:avLst/>
          </a:prstGeom>
        </p:spPr>
      </p:pic>
      <p:pic>
        <p:nvPicPr>
          <p:cNvPr id="17684" name="Picture 17683">
            <a:extLst>
              <a:ext uri="{FF2B5EF4-FFF2-40B4-BE49-F238E27FC236}">
                <a16:creationId xmlns:a16="http://schemas.microsoft.com/office/drawing/2014/main" id="{7104290E-3E00-0485-1421-322D04BFC15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4878" r="65054" b="33018"/>
          <a:stretch>
            <a:fillRect/>
          </a:stretch>
        </p:blipFill>
        <p:spPr>
          <a:xfrm>
            <a:off x="7683323" y="2204719"/>
            <a:ext cx="393656" cy="339765"/>
          </a:xfrm>
          <a:prstGeom prst="rect">
            <a:avLst/>
          </a:prstGeom>
        </p:spPr>
      </p:pic>
      <p:pic>
        <p:nvPicPr>
          <p:cNvPr id="17685" name="Picture 17684">
            <a:extLst>
              <a:ext uri="{FF2B5EF4-FFF2-40B4-BE49-F238E27FC236}">
                <a16:creationId xmlns:a16="http://schemas.microsoft.com/office/drawing/2014/main" id="{6C964541-246A-C363-CDBE-9EFA87CB677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938" y="2992179"/>
            <a:ext cx="381007" cy="381007"/>
          </a:xfrm>
          <a:prstGeom prst="rect">
            <a:avLst/>
          </a:prstGeom>
        </p:spPr>
      </p:pic>
      <p:pic>
        <p:nvPicPr>
          <p:cNvPr id="17686" name="Picture 17685">
            <a:extLst>
              <a:ext uri="{FF2B5EF4-FFF2-40B4-BE49-F238E27FC236}">
                <a16:creationId xmlns:a16="http://schemas.microsoft.com/office/drawing/2014/main" id="{99CDBE9D-7654-96AE-1F6C-1671894834E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302" y="3747898"/>
            <a:ext cx="279608" cy="279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0472"/>
            <a:ext cx="12191999" cy="25752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1502" y="654772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2316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55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TROVER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556D7B-5BF4-63B2-0E94-C0038FD46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964481"/>
              </p:ext>
            </p:extLst>
          </p:nvPr>
        </p:nvGraphicFramePr>
        <p:xfrm>
          <a:off x="6232532" y="4330243"/>
          <a:ext cx="590158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6121">
                  <a:extLst>
                    <a:ext uri="{9D8B030D-6E8A-4147-A177-3AD203B41FA5}">
                      <a16:colId xmlns:a16="http://schemas.microsoft.com/office/drawing/2014/main" val="110138518"/>
                    </a:ext>
                  </a:extLst>
                </a:gridCol>
                <a:gridCol w="1980285">
                  <a:extLst>
                    <a:ext uri="{9D8B030D-6E8A-4147-A177-3AD203B41FA5}">
                      <a16:colId xmlns:a16="http://schemas.microsoft.com/office/drawing/2014/main" val="3141446755"/>
                    </a:ext>
                  </a:extLst>
                </a:gridCol>
                <a:gridCol w="2135181">
                  <a:extLst>
                    <a:ext uri="{9D8B030D-6E8A-4147-A177-3AD203B41FA5}">
                      <a16:colId xmlns:a16="http://schemas.microsoft.com/office/drawing/2014/main" val="739281942"/>
                    </a:ext>
                  </a:extLst>
                </a:gridCol>
              </a:tblGrid>
              <a:tr h="29179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CHALLENGES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WE OVERCOME IT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073765"/>
                  </a:ext>
                </a:extLst>
              </a:tr>
              <a:tr h="61276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 </a:t>
                      </a:r>
                      <a:r>
                        <a:rPr lang="en-IN" sz="1400" b="1" u="sng" dirty="0"/>
                        <a:t>Wrong VASP named</a:t>
                      </a:r>
                    </a:p>
                    <a:p>
                      <a:pPr algn="ctr">
                        <a:buNone/>
                      </a:pPr>
                      <a:endParaRPr lang="en-IN" sz="11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Wrong exchange gets a notice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/>
                        <a:t>Glass-box verdict</a:t>
                      </a:r>
                      <a:r>
                        <a:rPr lang="en-IN" sz="1200" dirty="0"/>
                        <a:t>: every weight shown; infrastructure, never people; under 0.70 → human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274933"/>
                  </a:ext>
                </a:extLst>
              </a:tr>
              <a:tr h="61276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 </a:t>
                      </a:r>
                      <a:r>
                        <a:rPr lang="en-IN" sz="1400" b="1" u="sng" dirty="0"/>
                        <a:t>Trail dies in a mixer</a:t>
                      </a:r>
                      <a:endParaRPr lang="en-IN" sz="1400" u="sng" dirty="0"/>
                    </a:p>
                    <a:p>
                      <a:pPr algn="ctr">
                        <a:buNone/>
                      </a:pPr>
                      <a:endParaRPr lang="en-IN" sz="11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Most tools stop dead at the mixer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/>
                        <a:t>Cold-trail leads </a:t>
                      </a:r>
                      <a:r>
                        <a:rPr lang="en-IN" sz="1200" dirty="0"/>
                        <a:t>ranked by operator habits, always marked “lead, not proof”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426257"/>
                  </a:ext>
                </a:extLst>
              </a:tr>
              <a:tr h="61276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 </a:t>
                      </a:r>
                      <a:r>
                        <a:rPr lang="en-IN" sz="1400" b="1" u="sng" dirty="0"/>
                        <a:t>Offshore VASP</a:t>
                      </a:r>
                      <a:endParaRPr lang="en-IN" sz="1400" u="sng" dirty="0"/>
                    </a:p>
                    <a:p>
                      <a:pPr algn="ctr">
                        <a:buNone/>
                      </a:pPr>
                      <a:endParaRPr lang="en-IN" sz="11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Sits outside Indian law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/>
                        <a:t>Cross-border autopilot</a:t>
                      </a:r>
                      <a:r>
                        <a:rPr lang="en-IN" sz="1200" dirty="0"/>
                        <a:t>: MLAT / FIU-to-FIU, preserve-first request, SLA escalation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87351"/>
                  </a:ext>
                </a:extLst>
              </a:tr>
            </a:tbl>
          </a:graphicData>
        </a:graphic>
      </p:graphicFrame>
      <p:sp>
        <p:nvSpPr>
          <p:cNvPr id="13" name="TextBox 8">
            <a:extLst>
              <a:ext uri="{FF2B5EF4-FFF2-40B4-BE49-F238E27FC236}">
                <a16:creationId xmlns:a16="http://schemas.microsoft.com/office/drawing/2014/main" id="{76D0CEEE-CF80-53CD-65C1-57C9B706D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582" y="3942953"/>
            <a:ext cx="60894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Challenges and Strategies to overcome it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E59B0F8-E9ED-355C-BF55-E28C589FBB21}"/>
              </a:ext>
            </a:extLst>
          </p:cNvPr>
          <p:cNvGrpSpPr/>
          <p:nvPr/>
        </p:nvGrpSpPr>
        <p:grpSpPr>
          <a:xfrm>
            <a:off x="53509" y="1248707"/>
            <a:ext cx="6068484" cy="3575617"/>
            <a:chOff x="106347" y="1232848"/>
            <a:chExt cx="5733779" cy="313167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96FC444-DFA8-5FA4-6072-BEC289ED7925}"/>
                </a:ext>
              </a:extLst>
            </p:cNvPr>
            <p:cNvSpPr/>
            <p:nvPr/>
          </p:nvSpPr>
          <p:spPr>
            <a:xfrm>
              <a:off x="106347" y="1232848"/>
              <a:ext cx="5733779" cy="3131671"/>
            </a:xfrm>
            <a:prstGeom prst="roundRect">
              <a:avLst>
                <a:gd name="adj" fmla="val 3558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EABEB4-D793-BBC0-34AC-AAE231CCF371}"/>
                </a:ext>
              </a:extLst>
            </p:cNvPr>
            <p:cNvSpPr txBox="1"/>
            <p:nvPr/>
          </p:nvSpPr>
          <p:spPr>
            <a:xfrm>
              <a:off x="597652" y="1271770"/>
              <a:ext cx="1494905" cy="35043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FEASIBILITY:</a:t>
              </a:r>
              <a:endParaRPr lang="en-IN" sz="2000" b="1" dirty="0">
                <a:solidFill>
                  <a:schemeClr val="tx2"/>
                </a:solidFill>
              </a:endParaRPr>
            </a:p>
          </p:txBody>
        </p:sp>
        <p:pic>
          <p:nvPicPr>
            <p:cNvPr id="17" name="object 7">
              <a:extLst>
                <a:ext uri="{FF2B5EF4-FFF2-40B4-BE49-F238E27FC236}">
                  <a16:creationId xmlns:a16="http://schemas.microsoft.com/office/drawing/2014/main" id="{EAE495FA-FBA4-D7F2-08B9-E3B008CA786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793" y="1293416"/>
              <a:ext cx="415418" cy="350433"/>
            </a:xfrm>
            <a:prstGeom prst="rect">
              <a:avLst/>
            </a:prstGeom>
            <a:grpFill/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22814C-541F-EF59-98FB-B08F8FD1081F}"/>
                </a:ext>
              </a:extLst>
            </p:cNvPr>
            <p:cNvSpPr txBox="1"/>
            <p:nvPr/>
          </p:nvSpPr>
          <p:spPr>
            <a:xfrm>
              <a:off x="263025" y="3917154"/>
              <a:ext cx="5513573" cy="188695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endParaRPr lang="en-IN" sz="1400" b="1" dirty="0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FE8DD02-FDFB-4579-2254-555474FC9332}"/>
              </a:ext>
            </a:extLst>
          </p:cNvPr>
          <p:cNvSpPr/>
          <p:nvPr/>
        </p:nvSpPr>
        <p:spPr>
          <a:xfrm>
            <a:off x="152341" y="4280002"/>
            <a:ext cx="5895519" cy="51316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ED8F14-7556-EEB2-7767-40D127722FFB}"/>
              </a:ext>
            </a:extLst>
          </p:cNvPr>
          <p:cNvGrpSpPr/>
          <p:nvPr/>
        </p:nvGrpSpPr>
        <p:grpSpPr>
          <a:xfrm>
            <a:off x="6222354" y="1248707"/>
            <a:ext cx="5953363" cy="2665445"/>
            <a:chOff x="-41421" y="1073432"/>
            <a:chExt cx="5953363" cy="222510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EB1336C-9A99-2277-05B2-50C277C5B080}"/>
                </a:ext>
              </a:extLst>
            </p:cNvPr>
            <p:cNvSpPr/>
            <p:nvPr/>
          </p:nvSpPr>
          <p:spPr>
            <a:xfrm>
              <a:off x="-41421" y="1073432"/>
              <a:ext cx="5901587" cy="2158321"/>
            </a:xfrm>
            <a:prstGeom prst="roundRect">
              <a:avLst>
                <a:gd name="adj" fmla="val 5225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E4F8BC-A097-0587-8A89-E13541047B1C}"/>
                </a:ext>
              </a:extLst>
            </p:cNvPr>
            <p:cNvSpPr txBox="1"/>
            <p:nvPr/>
          </p:nvSpPr>
          <p:spPr>
            <a:xfrm>
              <a:off x="473454" y="1108961"/>
              <a:ext cx="1494905" cy="334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VIABILITY:</a:t>
              </a:r>
              <a:endParaRPr lang="en-I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28937A-7F98-AD59-AEEA-626F984338A8}"/>
                </a:ext>
              </a:extLst>
            </p:cNvPr>
            <p:cNvSpPr txBox="1"/>
            <p:nvPr/>
          </p:nvSpPr>
          <p:spPr>
            <a:xfrm>
              <a:off x="187814" y="1500020"/>
              <a:ext cx="5724128" cy="179851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IN" sz="1400" b="1" dirty="0"/>
                <a:t>People will use it:</a:t>
              </a:r>
              <a:endParaRPr lang="en-IN" sz="1400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I4C gets one national graph, not 28 state silos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An IO gets the exchange's name before the chai gets cold</a:t>
              </a:r>
            </a:p>
            <a:p>
              <a:r>
                <a:rPr lang="en-IN" sz="1400" b="1" dirty="0"/>
                <a:t>Works at scale:</a:t>
              </a:r>
              <a:endParaRPr lang="en-IN" sz="1400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Every complaint makes the memory smarter, no labelled data needed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One trace closes many cases; syndicates surface on their own</a:t>
              </a:r>
            </a:p>
            <a:p>
              <a:r>
                <a:rPr lang="en-IN" sz="1400" b="1" dirty="0"/>
                <a:t>Low risk to adopt:</a:t>
              </a:r>
              <a:endParaRPr lang="en-IN" sz="1400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Plugs into NCRP and SAHYOG, no rip-and-replace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Officer approves every output, no new legal liability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endParaRPr lang="en-IN" sz="1400" dirty="0"/>
            </a:p>
          </p:txBody>
        </p:sp>
        <p:pic>
          <p:nvPicPr>
            <p:cNvPr id="19" name="object 7">
              <a:extLst>
                <a:ext uri="{FF2B5EF4-FFF2-40B4-BE49-F238E27FC236}">
                  <a16:creationId xmlns:a16="http://schemas.microsoft.com/office/drawing/2014/main" id="{902F125E-0400-3032-656A-E0F1FB1930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37" y="1135994"/>
              <a:ext cx="442417" cy="324278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73128A-5DA6-E33B-42CA-8BF7D33FA397}"/>
              </a:ext>
            </a:extLst>
          </p:cNvPr>
          <p:cNvSpPr/>
          <p:nvPr/>
        </p:nvSpPr>
        <p:spPr>
          <a:xfrm>
            <a:off x="152340" y="1785996"/>
            <a:ext cx="5895519" cy="9535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414" name="Group 17413">
            <a:extLst>
              <a:ext uri="{FF2B5EF4-FFF2-40B4-BE49-F238E27FC236}">
                <a16:creationId xmlns:a16="http://schemas.microsoft.com/office/drawing/2014/main" id="{79A35CC0-8545-E5CF-BC42-87724B3A3CE4}"/>
              </a:ext>
            </a:extLst>
          </p:cNvPr>
          <p:cNvGrpSpPr/>
          <p:nvPr/>
        </p:nvGrpSpPr>
        <p:grpSpPr>
          <a:xfrm>
            <a:off x="43008" y="4919767"/>
            <a:ext cx="6089485" cy="1622634"/>
            <a:chOff x="5647765" y="5174355"/>
            <a:chExt cx="6455352" cy="137336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626FC4C-CBA3-C5DD-A1A4-CDEDC56D3C5E}"/>
                </a:ext>
              </a:extLst>
            </p:cNvPr>
            <p:cNvSpPr/>
            <p:nvPr/>
          </p:nvSpPr>
          <p:spPr>
            <a:xfrm>
              <a:off x="5647765" y="5174355"/>
              <a:ext cx="6455352" cy="1373369"/>
            </a:xfrm>
            <a:prstGeom prst="roundRect">
              <a:avLst>
                <a:gd name="adj" fmla="val 746"/>
              </a:avLst>
            </a:prstGeom>
            <a:solidFill>
              <a:srgbClr val="FFDC6D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48C738-7416-968E-1B88-277DB7FC57C0}"/>
                </a:ext>
              </a:extLst>
            </p:cNvPr>
            <p:cNvSpPr txBox="1"/>
            <p:nvPr/>
          </p:nvSpPr>
          <p:spPr>
            <a:xfrm>
              <a:off x="5782315" y="5230186"/>
              <a:ext cx="3541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75000"/>
                    </a:schemeClr>
                  </a:solidFill>
                </a:rPr>
                <a:t>BUSINESS POTENTIAL:</a:t>
              </a:r>
              <a:endParaRPr lang="en-IN" sz="1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5F7E04-D89F-DCC7-6ED9-34FD801B0B4D}"/>
                </a:ext>
              </a:extLst>
            </p:cNvPr>
            <p:cNvSpPr txBox="1"/>
            <p:nvPr/>
          </p:nvSpPr>
          <p:spPr>
            <a:xfrm>
              <a:off x="5782315" y="5451280"/>
              <a:ext cx="189456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u="sng" dirty="0"/>
                <a:t>State Licences</a:t>
              </a:r>
              <a:r>
                <a:rPr lang="en-IN" sz="1200" b="1" dirty="0"/>
                <a:t>:</a:t>
              </a:r>
            </a:p>
            <a:p>
              <a:r>
                <a:rPr lang="en-IN" sz="1200" dirty="0"/>
                <a:t>Per-state licence for cyber cells: ₹25-50L/year × 36 states &amp; UTs = ₹9-18Cr/year at 70% margins.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C122AF-5051-805C-8865-251DAC3AEF54}"/>
                </a:ext>
              </a:extLst>
            </p:cNvPr>
            <p:cNvSpPr txBox="1"/>
            <p:nvPr/>
          </p:nvSpPr>
          <p:spPr>
            <a:xfrm>
              <a:off x="7773093" y="5451434"/>
              <a:ext cx="201322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u="sng" dirty="0"/>
                <a:t>VASP Compliance Feed</a:t>
              </a:r>
              <a:r>
                <a:rPr lang="en-IN" sz="1200" b="1" dirty="0"/>
                <a:t>: </a:t>
              </a:r>
              <a:r>
                <a:rPr lang="en-IN" sz="1200" dirty="0"/>
                <a:t>FIU-registered exchanges subscribe to flagged-wallet alerts + SLA dashboard: 50 VASPs × ₹10-25L = ₹5-12Cr/year.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F74864-1DBE-60FD-CB0A-4A669FDDB2F8}"/>
                </a:ext>
              </a:extLst>
            </p:cNvPr>
            <p:cNvSpPr txBox="1"/>
            <p:nvPr/>
          </p:nvSpPr>
          <p:spPr>
            <a:xfrm>
              <a:off x="9924083" y="5451434"/>
              <a:ext cx="2157624" cy="1015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u="sng" dirty="0"/>
                <a:t>Global FIU Network</a:t>
              </a:r>
              <a:r>
                <a:rPr lang="en-IN" sz="1200" b="1" dirty="0"/>
                <a:t>:</a:t>
              </a:r>
              <a:r>
                <a:rPr lang="en-IN" sz="1200" dirty="0"/>
                <a:t> cross-border routing + Travel Rule checks as a service for FIUs across South &amp; South-East Asia. By Year 5, ₹100Cr+ revenue.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A2CBE0D-54C4-4605-5001-A2F077786923}"/>
                </a:ext>
              </a:extLst>
            </p:cNvPr>
            <p:cNvCxnSpPr/>
            <p:nvPr/>
          </p:nvCxnSpPr>
          <p:spPr>
            <a:xfrm>
              <a:off x="7682754" y="5324030"/>
              <a:ext cx="0" cy="1116539"/>
            </a:xfrm>
            <a:prstGeom prst="line">
              <a:avLst/>
            </a:prstGeom>
            <a:ln w="3175">
              <a:solidFill>
                <a:schemeClr val="tx1"/>
              </a:solidFill>
              <a:prstDash val="dash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7F0BF9B-A853-3874-3EA8-1FA720F5460C}"/>
                </a:ext>
              </a:extLst>
            </p:cNvPr>
            <p:cNvCxnSpPr/>
            <p:nvPr/>
          </p:nvCxnSpPr>
          <p:spPr>
            <a:xfrm>
              <a:off x="9806980" y="5342574"/>
              <a:ext cx="0" cy="1116539"/>
            </a:xfrm>
            <a:prstGeom prst="line">
              <a:avLst/>
            </a:prstGeom>
            <a:ln w="3175">
              <a:solidFill>
                <a:schemeClr val="tx1"/>
              </a:solidFill>
              <a:prstDash val="dash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06790C-CE94-A33B-FFA9-A7BC5904E1FA}"/>
              </a:ext>
            </a:extLst>
          </p:cNvPr>
          <p:cNvSpPr txBox="1"/>
          <p:nvPr/>
        </p:nvSpPr>
        <p:spPr>
          <a:xfrm>
            <a:off x="202520" y="1804134"/>
            <a:ext cx="589551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50" b="1" u="sng" dirty="0"/>
              <a:t>Technical</a:t>
            </a:r>
            <a:r>
              <a:rPr lang="en-IN" sz="1400" b="1" u="sng" dirty="0"/>
              <a:t>:</a:t>
            </a:r>
            <a:r>
              <a:rPr lang="en-IN" sz="1400" b="1" dirty="0"/>
              <a:t> </a:t>
            </a:r>
            <a:r>
              <a:rPr lang="en-IN" sz="1400" dirty="0"/>
              <a:t> Already running, not a concept: </a:t>
            </a:r>
            <a:r>
              <a:rPr lang="en-IN" sz="1400" b="1" dirty="0" err="1"/>
              <a:t>490 passing tests</a:t>
            </a:r>
            <a:r>
              <a:rPr lang="en-IN" sz="1400" dirty="0"/>
              <a:t>. Hinglish intake, checksum-verified wallets, national memory, multi-chain trace, risk and evidence pack, live on localhost today. Sweep signature needs </a:t>
            </a:r>
            <a:r>
              <a:rPr lang="en-IN" sz="1400" b="1" dirty="0" err="1"/>
              <a:t>zero labelled</a:t>
            </a:r>
            <a:r>
              <a:rPr lang="en-IN" sz="1400" dirty="0"/>
              <a:t> fraud data.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6BEA9A2-9FDD-10B7-8B8F-D58E421E45A6}"/>
              </a:ext>
            </a:extLst>
          </p:cNvPr>
          <p:cNvSpPr/>
          <p:nvPr/>
        </p:nvSpPr>
        <p:spPr>
          <a:xfrm>
            <a:off x="152340" y="2791948"/>
            <a:ext cx="5895520" cy="69392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9DAF19-4874-EA9A-6D24-53CD92E337FF}"/>
              </a:ext>
            </a:extLst>
          </p:cNvPr>
          <p:cNvSpPr txBox="1"/>
          <p:nvPr/>
        </p:nvSpPr>
        <p:spPr>
          <a:xfrm>
            <a:off x="203317" y="2775758"/>
            <a:ext cx="5943765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50" b="1" u="sng" dirty="0"/>
              <a:t>Operational</a:t>
            </a:r>
            <a:r>
              <a:rPr lang="en-IN" sz="1400" b="1" u="sng" dirty="0"/>
              <a:t>:</a:t>
            </a:r>
            <a:r>
              <a:rPr lang="en-IN" sz="1400" b="1" dirty="0"/>
              <a:t> </a:t>
            </a:r>
            <a:r>
              <a:rPr lang="en-IN" sz="1400" dirty="0"/>
              <a:t> Single Docker host, </a:t>
            </a:r>
            <a:r>
              <a:rPr lang="en-IN" sz="1400" b="1" dirty="0"/>
              <a:t>offline-capable</a:t>
            </a:r>
            <a:r>
              <a:rPr lang="en-IN" sz="1400" dirty="0"/>
              <a:t>, no GPU. Imports NCRP read-only, exports </a:t>
            </a:r>
            <a:r>
              <a:rPr lang="en-IN" sz="1400" b="1" dirty="0"/>
              <a:t>SAHYOG payloads</a:t>
            </a:r>
            <a:r>
              <a:rPr lang="en-IN" sz="1400" dirty="0"/>
              <a:t>, so it slots into the I4C workflow police already use.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C330FE-B1E3-C99E-F236-ACAB5AF06B26}"/>
              </a:ext>
            </a:extLst>
          </p:cNvPr>
          <p:cNvSpPr/>
          <p:nvPr/>
        </p:nvSpPr>
        <p:spPr>
          <a:xfrm>
            <a:off x="152340" y="3535975"/>
            <a:ext cx="5895519" cy="69392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64358B-0EA7-D6B4-DF02-C2727174AF09}"/>
              </a:ext>
            </a:extLst>
          </p:cNvPr>
          <p:cNvSpPr txBox="1"/>
          <p:nvPr/>
        </p:nvSpPr>
        <p:spPr>
          <a:xfrm>
            <a:off x="203317" y="3534902"/>
            <a:ext cx="5943765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50" b="1" u="sng" dirty="0"/>
              <a:t>Social</a:t>
            </a:r>
            <a:r>
              <a:rPr lang="en-IN" sz="1400" b="1" u="sng" dirty="0"/>
              <a:t>:</a:t>
            </a:r>
            <a:r>
              <a:rPr lang="en-IN" sz="1400" b="1" dirty="0"/>
              <a:t> </a:t>
            </a:r>
            <a:r>
              <a:rPr lang="en-IN" sz="1400" dirty="0"/>
              <a:t>Built for a constable, not a crypto analyst: reads complaints the way people actually write them. Every </a:t>
            </a:r>
            <a:r>
              <a:rPr lang="en-IN" sz="1400" b="1" dirty="0"/>
              <a:t>score shows its factors</a:t>
            </a:r>
            <a:r>
              <a:rPr lang="en-IN" sz="1400" dirty="0"/>
              <a:t>, so it can clear an innocent wallet, </a:t>
            </a:r>
            <a:r>
              <a:rPr lang="en-IN" sz="1400" b="1" dirty="0"/>
              <a:t>not just accuse.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906B3C-D7B7-DDFF-D54D-778F614E5146}"/>
              </a:ext>
            </a:extLst>
          </p:cNvPr>
          <p:cNvSpPr txBox="1"/>
          <p:nvPr/>
        </p:nvSpPr>
        <p:spPr>
          <a:xfrm>
            <a:off x="202520" y="4283061"/>
            <a:ext cx="5845339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50" b="1" u="sng" dirty="0"/>
              <a:t>Economical:</a:t>
            </a:r>
            <a:r>
              <a:rPr lang="en-IN" sz="1200" b="1" dirty="0"/>
              <a:t> </a:t>
            </a:r>
            <a:r>
              <a:rPr lang="en-IN" sz="1400" dirty="0"/>
              <a:t>Zero licensing vs. Chainalysis-class tools; one trace closes many cases, so cost per case falls as volume grows. </a:t>
            </a:r>
            <a:r>
              <a:rPr lang="en-IN" sz="1400" b="1" dirty="0"/>
              <a:t>No recurring cloud/GPU cost.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72126"/>
            <a:ext cx="12191999" cy="28587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3266" y="1169934"/>
            <a:ext cx="48195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0194" y="6511721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57644" y="652025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93026"/>
            <a:ext cx="133766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TROVER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7426" name="Group 17425">
            <a:extLst>
              <a:ext uri="{FF2B5EF4-FFF2-40B4-BE49-F238E27FC236}">
                <a16:creationId xmlns:a16="http://schemas.microsoft.com/office/drawing/2014/main" id="{7C410C59-9D37-C101-9159-9CAB14AE9FA2}"/>
              </a:ext>
            </a:extLst>
          </p:cNvPr>
          <p:cNvGrpSpPr/>
          <p:nvPr/>
        </p:nvGrpSpPr>
        <p:grpSpPr>
          <a:xfrm>
            <a:off x="243500" y="1666977"/>
            <a:ext cx="4165801" cy="4743261"/>
            <a:chOff x="252984" y="1847088"/>
            <a:chExt cx="3883741" cy="436286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52263B-A56C-758F-4150-7D63967D97B9}"/>
                </a:ext>
              </a:extLst>
            </p:cNvPr>
            <p:cNvGrpSpPr/>
            <p:nvPr/>
          </p:nvGrpSpPr>
          <p:grpSpPr>
            <a:xfrm>
              <a:off x="252984" y="1847088"/>
              <a:ext cx="3883741" cy="969264"/>
              <a:chOff x="252984" y="1847088"/>
              <a:chExt cx="3883741" cy="969264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EEA35775-5D84-AA60-0598-C6C6CA863092}"/>
                  </a:ext>
                </a:extLst>
              </p:cNvPr>
              <p:cNvSpPr/>
              <p:nvPr/>
            </p:nvSpPr>
            <p:spPr>
              <a:xfrm>
                <a:off x="252984" y="1847088"/>
                <a:ext cx="3806952" cy="969264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21C437E-FB48-F95D-0E95-DAFD90F41CF8}"/>
                  </a:ext>
                </a:extLst>
              </p:cNvPr>
              <p:cNvSpPr/>
              <p:nvPr/>
            </p:nvSpPr>
            <p:spPr>
              <a:xfrm>
                <a:off x="329773" y="1847088"/>
                <a:ext cx="3806952" cy="969264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7421" name="Group 17420">
              <a:extLst>
                <a:ext uri="{FF2B5EF4-FFF2-40B4-BE49-F238E27FC236}">
                  <a16:creationId xmlns:a16="http://schemas.microsoft.com/office/drawing/2014/main" id="{E143BE9A-F4CB-F530-1A4D-25BF4FD33842}"/>
                </a:ext>
              </a:extLst>
            </p:cNvPr>
            <p:cNvGrpSpPr/>
            <p:nvPr/>
          </p:nvGrpSpPr>
          <p:grpSpPr>
            <a:xfrm>
              <a:off x="252984" y="2892552"/>
              <a:ext cx="3883741" cy="1027446"/>
              <a:chOff x="252984" y="2950734"/>
              <a:chExt cx="3883741" cy="96926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FA1C37E2-8C2C-780E-58FA-944317444AEB}"/>
                  </a:ext>
                </a:extLst>
              </p:cNvPr>
              <p:cNvSpPr/>
              <p:nvPr/>
            </p:nvSpPr>
            <p:spPr>
              <a:xfrm>
                <a:off x="252984" y="2950734"/>
                <a:ext cx="3806952" cy="96926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336B90E-D28F-D7B5-5793-CAB28C2D80EB}"/>
                  </a:ext>
                </a:extLst>
              </p:cNvPr>
              <p:cNvSpPr/>
              <p:nvPr/>
            </p:nvSpPr>
            <p:spPr>
              <a:xfrm>
                <a:off x="329773" y="2950734"/>
                <a:ext cx="3806952" cy="969264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7422" name="Group 17421">
              <a:extLst>
                <a:ext uri="{FF2B5EF4-FFF2-40B4-BE49-F238E27FC236}">
                  <a16:creationId xmlns:a16="http://schemas.microsoft.com/office/drawing/2014/main" id="{2C461B36-4C5C-93CE-C4B7-AFC8B3B03E92}"/>
                </a:ext>
              </a:extLst>
            </p:cNvPr>
            <p:cNvGrpSpPr/>
            <p:nvPr/>
          </p:nvGrpSpPr>
          <p:grpSpPr>
            <a:xfrm>
              <a:off x="252984" y="3996198"/>
              <a:ext cx="3883740" cy="1042147"/>
              <a:chOff x="252984" y="4065764"/>
              <a:chExt cx="3883740" cy="972581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8C1A7E7-0591-8943-2502-5DC1C525A2D4}"/>
                  </a:ext>
                </a:extLst>
              </p:cNvPr>
              <p:cNvSpPr/>
              <p:nvPr/>
            </p:nvSpPr>
            <p:spPr>
              <a:xfrm>
                <a:off x="252984" y="4069081"/>
                <a:ext cx="3806952" cy="969264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8ABA8C2-ACC4-58FE-9BBC-1C5D82CFF2C2}"/>
                  </a:ext>
                </a:extLst>
              </p:cNvPr>
              <p:cNvSpPr/>
              <p:nvPr/>
            </p:nvSpPr>
            <p:spPr>
              <a:xfrm>
                <a:off x="329772" y="4065764"/>
                <a:ext cx="3806952" cy="969264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7423" name="Group 17422">
              <a:extLst>
                <a:ext uri="{FF2B5EF4-FFF2-40B4-BE49-F238E27FC236}">
                  <a16:creationId xmlns:a16="http://schemas.microsoft.com/office/drawing/2014/main" id="{7D96EFE5-3C93-735A-9BFA-15933F0BEA67}"/>
                </a:ext>
              </a:extLst>
            </p:cNvPr>
            <p:cNvGrpSpPr/>
            <p:nvPr/>
          </p:nvGrpSpPr>
          <p:grpSpPr>
            <a:xfrm>
              <a:off x="252984" y="5110991"/>
              <a:ext cx="3883741" cy="1098005"/>
              <a:chOff x="252984" y="5236415"/>
              <a:chExt cx="3883741" cy="97258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121D28DC-93C9-F161-0A62-39E25BC151A3}"/>
                  </a:ext>
                </a:extLst>
              </p:cNvPr>
              <p:cNvSpPr/>
              <p:nvPr/>
            </p:nvSpPr>
            <p:spPr>
              <a:xfrm>
                <a:off x="252984" y="5236415"/>
                <a:ext cx="3806952" cy="969264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09B9FC39-4F6A-E613-02B5-85CAD29BB4DA}"/>
                  </a:ext>
                </a:extLst>
              </p:cNvPr>
              <p:cNvSpPr/>
              <p:nvPr/>
            </p:nvSpPr>
            <p:spPr>
              <a:xfrm>
                <a:off x="329773" y="5239732"/>
                <a:ext cx="3806952" cy="969264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3B203F-D2A9-62BD-C218-C3FD5779F2AA}"/>
                </a:ext>
              </a:extLst>
            </p:cNvPr>
            <p:cNvSpPr txBox="1"/>
            <p:nvPr/>
          </p:nvSpPr>
          <p:spPr>
            <a:xfrm>
              <a:off x="392910" y="1847626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Investigating Officer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125328-39CE-69E7-964D-737A4F19E899}"/>
                </a:ext>
              </a:extLst>
            </p:cNvPr>
            <p:cNvSpPr txBox="1"/>
            <p:nvPr/>
          </p:nvSpPr>
          <p:spPr>
            <a:xfrm>
              <a:off x="392910" y="2919543"/>
              <a:ext cx="3026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I4C, SAHYOG and State Cells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17A152-AB46-9870-31F5-29DB7F2DA2B5}"/>
                </a:ext>
              </a:extLst>
            </p:cNvPr>
            <p:cNvSpPr txBox="1"/>
            <p:nvPr/>
          </p:nvSpPr>
          <p:spPr>
            <a:xfrm>
              <a:off x="392910" y="4044771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The Victim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A6E2E0-CAD7-E589-22CD-5DEA10BB7BF7}"/>
                </a:ext>
              </a:extLst>
            </p:cNvPr>
            <p:cNvSpPr txBox="1"/>
            <p:nvPr/>
          </p:nvSpPr>
          <p:spPr>
            <a:xfrm>
              <a:off x="392910" y="5190595"/>
              <a:ext cx="33519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VASP Compliance Teams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B9662E1-45B0-DE78-0452-920EDA7AF669}"/>
                </a:ext>
              </a:extLst>
            </p:cNvPr>
            <p:cNvSpPr txBox="1"/>
            <p:nvPr/>
          </p:nvSpPr>
          <p:spPr>
            <a:xfrm>
              <a:off x="392910" y="2185891"/>
              <a:ext cx="37438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Pastes a Hinglish complaint, gets the exchange's name. Zero crypto training needed.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C82B64-A57C-1DEE-C704-7979EE27C02C}"/>
                </a:ext>
              </a:extLst>
            </p:cNvPr>
            <p:cNvSpPr txBox="1"/>
            <p:nvPr/>
          </p:nvSpPr>
          <p:spPr>
            <a:xfrm>
              <a:off x="388491" y="3199794"/>
              <a:ext cx="37438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One gang across 11 states shows up as one syndicate with one lead state, not 38 separate FIRs.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EC5F5AB-4687-F5CF-AF9A-7332B801A268}"/>
                </a:ext>
              </a:extLst>
            </p:cNvPr>
            <p:cNvSpPr txBox="1"/>
            <p:nvPr/>
          </p:nvSpPr>
          <p:spPr>
            <a:xfrm>
              <a:off x="388491" y="4305813"/>
              <a:ext cx="37438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The alert can be waiting at the exchange before the money lands. A real path to recovery replaces </a:t>
              </a:r>
              <a:r>
                <a:rPr lang="en-IN" sz="1400" b="1" dirty="0"/>
                <a:t>“nothing will happen.”</a:t>
              </a:r>
              <a:endParaRPr lang="en-IN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45FCAA9-5971-59AC-9172-024BC8E903D8}"/>
                </a:ext>
              </a:extLst>
            </p:cNvPr>
            <p:cNvSpPr txBox="1"/>
            <p:nvPr/>
          </p:nvSpPr>
          <p:spPr>
            <a:xfrm>
              <a:off x="392910" y="5471288"/>
              <a:ext cx="37438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Get structured, evidence-backed requests with a clear deadline and a public scorecard, so they act fast and refuse fewer.</a:t>
              </a:r>
            </a:p>
          </p:txBody>
        </p:sp>
      </p:grpSp>
      <p:sp>
        <p:nvSpPr>
          <p:cNvPr id="27" name="TextBox 8">
            <a:extLst>
              <a:ext uri="{FF2B5EF4-FFF2-40B4-BE49-F238E27FC236}">
                <a16:creationId xmlns:a16="http://schemas.microsoft.com/office/drawing/2014/main" id="{2907D78C-BF6E-38D9-5A82-41F688E64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313" y="1182561"/>
            <a:ext cx="27808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 of the solution</a:t>
            </a:r>
          </a:p>
        </p:txBody>
      </p:sp>
      <p:grpSp>
        <p:nvGrpSpPr>
          <p:cNvPr id="17420" name="Group 17419">
            <a:extLst>
              <a:ext uri="{FF2B5EF4-FFF2-40B4-BE49-F238E27FC236}">
                <a16:creationId xmlns:a16="http://schemas.microsoft.com/office/drawing/2014/main" id="{13BC5400-22F3-9925-2A74-80EB072F08A9}"/>
              </a:ext>
            </a:extLst>
          </p:cNvPr>
          <p:cNvGrpSpPr/>
          <p:nvPr/>
        </p:nvGrpSpPr>
        <p:grpSpPr>
          <a:xfrm>
            <a:off x="4617469" y="1655858"/>
            <a:ext cx="7471140" cy="2597027"/>
            <a:chOff x="4648708" y="1562016"/>
            <a:chExt cx="7471140" cy="259702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2212CF8-8B47-083D-D464-6471A994CA78}"/>
                </a:ext>
              </a:extLst>
            </p:cNvPr>
            <p:cNvSpPr/>
            <p:nvPr/>
          </p:nvSpPr>
          <p:spPr>
            <a:xfrm>
              <a:off x="4677884" y="1562016"/>
              <a:ext cx="1449275" cy="2558632"/>
            </a:xfrm>
            <a:prstGeom prst="roundRect">
              <a:avLst>
                <a:gd name="adj" fmla="val 739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7D10842-C84C-9ACB-979A-ADDEE35BFE5A}"/>
                </a:ext>
              </a:extLst>
            </p:cNvPr>
            <p:cNvSpPr/>
            <p:nvPr/>
          </p:nvSpPr>
          <p:spPr>
            <a:xfrm>
              <a:off x="6180665" y="1562016"/>
              <a:ext cx="1449275" cy="2558632"/>
            </a:xfrm>
            <a:prstGeom prst="roundRect">
              <a:avLst>
                <a:gd name="adj" fmla="val 739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3922496-5E17-C815-5EE3-5CC34892DF6A}"/>
                </a:ext>
              </a:extLst>
            </p:cNvPr>
            <p:cNvSpPr/>
            <p:nvPr/>
          </p:nvSpPr>
          <p:spPr>
            <a:xfrm>
              <a:off x="7683446" y="1562016"/>
              <a:ext cx="1449275" cy="2558632"/>
            </a:xfrm>
            <a:prstGeom prst="roundRect">
              <a:avLst>
                <a:gd name="adj" fmla="val 739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E3D2933-B51C-8992-4923-9612A00CEEFA}"/>
                </a:ext>
              </a:extLst>
            </p:cNvPr>
            <p:cNvSpPr/>
            <p:nvPr/>
          </p:nvSpPr>
          <p:spPr>
            <a:xfrm>
              <a:off x="9181761" y="1573135"/>
              <a:ext cx="1449275" cy="2558632"/>
            </a:xfrm>
            <a:prstGeom prst="roundRect">
              <a:avLst>
                <a:gd name="adj" fmla="val 739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4E4FEEA-1923-F11A-414A-E0323678E4DF}"/>
                </a:ext>
              </a:extLst>
            </p:cNvPr>
            <p:cNvSpPr/>
            <p:nvPr/>
          </p:nvSpPr>
          <p:spPr>
            <a:xfrm>
              <a:off x="10670573" y="1562016"/>
              <a:ext cx="1449275" cy="2558632"/>
            </a:xfrm>
            <a:prstGeom prst="roundRect">
              <a:avLst>
                <a:gd name="adj" fmla="val 739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F81C6AB-C26B-E836-8573-81904FA35D47}"/>
                </a:ext>
              </a:extLst>
            </p:cNvPr>
            <p:cNvSpPr txBox="1"/>
            <p:nvPr/>
          </p:nvSpPr>
          <p:spPr>
            <a:xfrm>
              <a:off x="6136375" y="2012301"/>
              <a:ext cx="1449276" cy="2146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en-US" b="1" u="sng" dirty="0">
                  <a:solidFill>
                    <a:srgbClr val="393F45"/>
                  </a:solidFill>
                  <a:latin typeface="Calibri"/>
                </a:rPr>
                <a:t>Economic</a:t>
              </a:r>
              <a:r>
                <a:rPr lang="en-US" dirty="0">
                  <a:solidFill>
                    <a:srgbClr val="393F45"/>
                  </a:solidFill>
                  <a:latin typeface="Calibri"/>
                </a:rPr>
                <a:t> 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frozen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before cash-out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weeks of tracing cut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₹0</a:t>
              </a: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 </a:t>
              </a:r>
              <a:r>
                <a:rPr lang="en-US" sz="1400" b="1" dirty="0" err="1">
                  <a:solidFill>
                    <a:srgbClr val="393F45"/>
                  </a:solidFill>
                  <a:latin typeface="Calibri"/>
                </a:rPr>
                <a:t>licence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 cost </a:t>
              </a: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against lakhs per seat annually</a:t>
              </a:r>
              <a:endParaRPr lang="en-US" sz="1600" dirty="0">
                <a:solidFill>
                  <a:srgbClr val="393F45"/>
                </a:solidFill>
                <a:latin typeface="Calibr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CFD4EDF-1DE9-2DBE-778C-A7A860FA9E73}"/>
                </a:ext>
              </a:extLst>
            </p:cNvPr>
            <p:cNvSpPr txBox="1"/>
            <p:nvPr/>
          </p:nvSpPr>
          <p:spPr>
            <a:xfrm>
              <a:off x="7599982" y="2031083"/>
              <a:ext cx="1588136" cy="2095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en-US" b="1" u="sng" dirty="0">
                  <a:solidFill>
                    <a:srgbClr val="393F45"/>
                  </a:solidFill>
                  <a:latin typeface="Calibri"/>
                </a:rPr>
                <a:t>Legal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glass-box verdicts a defence lawyer can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examine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hash-chained,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tamper-evident</a:t>
              </a: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 evidence</a:t>
              </a:r>
              <a:endParaRPr lang="en-US" sz="1600" dirty="0">
                <a:solidFill>
                  <a:srgbClr val="393F45"/>
                </a:solidFill>
                <a:latin typeface="Calibri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877776B-8E39-61F7-6C94-26A2D8C44029}"/>
                </a:ext>
              </a:extLst>
            </p:cNvPr>
            <p:cNvSpPr txBox="1"/>
            <p:nvPr/>
          </p:nvSpPr>
          <p:spPr>
            <a:xfrm>
              <a:off x="9207886" y="2048082"/>
              <a:ext cx="1436379" cy="2095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en-US" b="1" u="sng" dirty="0">
                  <a:solidFill>
                    <a:srgbClr val="393F45"/>
                  </a:solidFill>
                  <a:latin typeface="Calibri"/>
                </a:rPr>
                <a:t>Strategic 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case data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never leaves India</a:t>
              </a: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national memory becomes a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sovereign asset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E8D68C9-F6EA-4527-EB0E-749839E9C7A1}"/>
                </a:ext>
              </a:extLst>
            </p:cNvPr>
            <p:cNvSpPr txBox="1"/>
            <p:nvPr/>
          </p:nvSpPr>
          <p:spPr>
            <a:xfrm>
              <a:off x="10667653" y="2082664"/>
              <a:ext cx="1439772" cy="2014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en-US" sz="1600" b="1" u="sng" dirty="0">
                  <a:solidFill>
                    <a:srgbClr val="393F45"/>
                  </a:solidFill>
                  <a:latin typeface="Calibri"/>
                </a:rPr>
                <a:t>Environmental</a:t>
              </a:r>
              <a:endParaRPr lang="en-US" sz="1600" b="1" dirty="0">
                <a:solidFill>
                  <a:srgbClr val="393F45"/>
                </a:solidFill>
                <a:latin typeface="Calibri"/>
              </a:endParaRPr>
            </a:p>
            <a:p>
              <a:pPr marL="285750" indent="-285750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marginal, and stated honestly: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no mining, no node syncing</a:t>
              </a: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,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commodity hardware</a:t>
              </a:r>
            </a:p>
          </p:txBody>
        </p:sp>
        <p:pic>
          <p:nvPicPr>
            <p:cNvPr id="49" name="object 54">
              <a:extLst>
                <a:ext uri="{FF2B5EF4-FFF2-40B4-BE49-F238E27FC236}">
                  <a16:creationId xmlns:a16="http://schemas.microsoft.com/office/drawing/2014/main" id="{6723BFE6-2FE0-C5C4-F0E8-7097A4C918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2626" y="1613801"/>
              <a:ext cx="468495" cy="47448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62DC9D5-E0A0-CB31-9A84-78E1EBE7EDB5}"/>
                </a:ext>
              </a:extLst>
            </p:cNvPr>
            <p:cNvSpPr txBox="1"/>
            <p:nvPr/>
          </p:nvSpPr>
          <p:spPr>
            <a:xfrm>
              <a:off x="4648708" y="2024877"/>
              <a:ext cx="1496333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>
                  <a:solidFill>
                    <a:srgbClr val="393F45"/>
                  </a:solidFill>
                  <a:latin typeface="Calibri"/>
                </a:rPr>
                <a:t>Social</a:t>
              </a:r>
              <a:r>
                <a:rPr lang="en-US" sz="1600" dirty="0">
                  <a:solidFill>
                    <a:srgbClr val="393F45"/>
                  </a:solidFill>
                  <a:latin typeface="Calibri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protects the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elderly</a:t>
              </a: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,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students</a:t>
              </a: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 and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first-time investors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93F45"/>
                  </a:solidFill>
                  <a:latin typeface="Calibri"/>
                </a:rPr>
                <a:t>works in </a:t>
              </a:r>
              <a:r>
                <a:rPr lang="en-US" sz="1400" b="1" dirty="0">
                  <a:solidFill>
                    <a:srgbClr val="393F45"/>
                  </a:solidFill>
                  <a:latin typeface="Calibri"/>
                </a:rPr>
                <a:t>Hindi &amp; Hinglish</a:t>
              </a:r>
            </a:p>
          </p:txBody>
        </p:sp>
        <p:pic>
          <p:nvPicPr>
            <p:cNvPr id="51" name="object 9">
              <a:extLst>
                <a:ext uri="{FF2B5EF4-FFF2-40B4-BE49-F238E27FC236}">
                  <a16:creationId xmlns:a16="http://schemas.microsoft.com/office/drawing/2014/main" id="{3AFD20C8-4CBA-C116-7375-6F289D7429B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5455" y="1617616"/>
              <a:ext cx="382963" cy="455904"/>
            </a:xfrm>
            <a:prstGeom prst="rect">
              <a:avLst/>
            </a:prstGeom>
          </p:spPr>
        </p:pic>
        <p:pic>
          <p:nvPicPr>
            <p:cNvPr id="53" name="object 55">
              <a:extLst>
                <a:ext uri="{FF2B5EF4-FFF2-40B4-BE49-F238E27FC236}">
                  <a16:creationId xmlns:a16="http://schemas.microsoft.com/office/drawing/2014/main" id="{732CD772-1CF2-16B4-E3C7-D637CB5D931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5353" y="1663023"/>
              <a:ext cx="401221" cy="385059"/>
            </a:xfrm>
            <a:prstGeom prst="rect">
              <a:avLst/>
            </a:prstGeom>
          </p:spPr>
        </p:pic>
        <p:pic>
          <p:nvPicPr>
            <p:cNvPr id="55" name="object 189">
              <a:extLst>
                <a:ext uri="{FF2B5EF4-FFF2-40B4-BE49-F238E27FC236}">
                  <a16:creationId xmlns:a16="http://schemas.microsoft.com/office/drawing/2014/main" id="{92AB75AA-E991-3159-1A39-F89C574484C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94730" y="1661625"/>
              <a:ext cx="457200" cy="426656"/>
            </a:xfrm>
            <a:prstGeom prst="rect">
              <a:avLst/>
            </a:prstGeom>
          </p:spPr>
        </p:pic>
        <p:pic>
          <p:nvPicPr>
            <p:cNvPr id="57" name="object 88">
              <a:extLst>
                <a:ext uri="{FF2B5EF4-FFF2-40B4-BE49-F238E27FC236}">
                  <a16:creationId xmlns:a16="http://schemas.microsoft.com/office/drawing/2014/main" id="{D4E5E76B-6A25-8AD7-0F15-E20B984E698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66610" y="1618165"/>
              <a:ext cx="457200" cy="470116"/>
            </a:xfrm>
            <a:prstGeom prst="rect">
              <a:avLst/>
            </a:prstGeom>
          </p:spPr>
        </p:pic>
      </p:grpSp>
      <p:pic>
        <p:nvPicPr>
          <p:cNvPr id="17416" name="Picture 17415">
            <a:extLst>
              <a:ext uri="{FF2B5EF4-FFF2-40B4-BE49-F238E27FC236}">
                <a16:creationId xmlns:a16="http://schemas.microsoft.com/office/drawing/2014/main" id="{F55AF51A-349C-712E-15F5-110358D7C6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646646" y="4353305"/>
            <a:ext cx="7441964" cy="210373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7010"/>
            <a:ext cx="12191999" cy="27098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59442" y="1273649"/>
            <a:ext cx="19700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u="sng" noProof="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eferences</a:t>
            </a:r>
            <a:endParaRPr kumimoji="0" lang="en-US" sz="16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67789" y="653891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08417"/>
            <a:ext cx="1346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TROVER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0500AF-432D-FDCE-7157-022E61768A88}"/>
              </a:ext>
            </a:extLst>
          </p:cNvPr>
          <p:cNvSpPr txBox="1"/>
          <p:nvPr/>
        </p:nvSpPr>
        <p:spPr>
          <a:xfrm>
            <a:off x="101430" y="2198318"/>
            <a:ext cx="6096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u="sng" dirty="0">
                <a:solidFill>
                  <a:srgbClr val="1E3A5C"/>
                </a:solidFill>
                <a:latin typeface="Calibri"/>
              </a:rPr>
              <a:t>Research &amp; Benchmarking of Existing Systems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245BD6-6892-3EA7-D30D-ED4A5075A2ED}"/>
              </a:ext>
            </a:extLst>
          </p:cNvPr>
          <p:cNvSpPr/>
          <p:nvPr/>
        </p:nvSpPr>
        <p:spPr>
          <a:xfrm>
            <a:off x="7229952" y="4938128"/>
            <a:ext cx="4848225" cy="1554745"/>
          </a:xfrm>
          <a:prstGeom prst="roundRect">
            <a:avLst>
              <a:gd name="adj" fmla="val 0"/>
            </a:avLst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A9DF4-6733-37CB-7275-8DAF4A6B6C44}"/>
              </a:ext>
            </a:extLst>
          </p:cNvPr>
          <p:cNvSpPr txBox="1"/>
          <p:nvPr/>
        </p:nvSpPr>
        <p:spPr>
          <a:xfrm>
            <a:off x="7319071" y="5016947"/>
            <a:ext cx="4721226" cy="1430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</a:pPr>
            <a:r>
              <a:rPr lang="en-IN" b="1" dirty="0">
                <a:solidFill>
                  <a:srgbClr val="2F7DBF"/>
                </a:solidFill>
                <a:latin typeface="Calibri"/>
              </a:rPr>
              <a:t>Existing systems</a:t>
            </a:r>
          </a:p>
          <a:p>
            <a:pPr marL="141732" indent="-141732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IN" sz="1400" b="1" dirty="0">
                <a:solidFill>
                  <a:srgbClr val="393F45"/>
                </a:solidFill>
                <a:latin typeface="Calibri"/>
              </a:rPr>
              <a:t>NCRP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 —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4"/>
              </a:rPr>
              <a:t>(LINK)</a:t>
            </a:r>
            <a:endParaRPr lang="en-IN" sz="1400" dirty="0">
              <a:solidFill>
                <a:srgbClr val="393F45"/>
              </a:solidFill>
              <a:latin typeface="Calibri"/>
            </a:endParaRPr>
          </a:p>
          <a:p>
            <a:pPr marL="141732" indent="-141732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IN" sz="1400" b="1" dirty="0" err="1">
                <a:solidFill>
                  <a:srgbClr val="393F45"/>
                </a:solidFill>
                <a:latin typeface="Calibri"/>
              </a:rPr>
              <a:t>GraphSense</a:t>
            </a:r>
            <a:r>
              <a:rPr lang="en-IN" sz="1400" b="1" dirty="0">
                <a:solidFill>
                  <a:srgbClr val="393F45"/>
                </a:solidFill>
                <a:latin typeface="Calibri"/>
              </a:rPr>
              <a:t> 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—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5"/>
              </a:rPr>
              <a:t>(LINK)</a:t>
            </a:r>
            <a:endParaRPr lang="en-IN" sz="1400" dirty="0">
              <a:solidFill>
                <a:srgbClr val="393F45"/>
              </a:solidFill>
              <a:latin typeface="Calibri"/>
            </a:endParaRPr>
          </a:p>
          <a:p>
            <a:pPr marL="141732" indent="-141732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IN" sz="1400" b="1" dirty="0">
                <a:solidFill>
                  <a:srgbClr val="393F45"/>
                </a:solidFill>
                <a:latin typeface="Calibri"/>
              </a:rPr>
              <a:t>Chainalysis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 — 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6"/>
              </a:rPr>
              <a:t>(LINK)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           ·   </a:t>
            </a:r>
            <a:r>
              <a:rPr lang="en-IN" sz="1400" b="1" dirty="0">
                <a:solidFill>
                  <a:srgbClr val="393F45"/>
                </a:solidFill>
                <a:latin typeface="Calibri"/>
              </a:rPr>
              <a:t>TRM Labs 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—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7"/>
              </a:rPr>
              <a:t>(LINK)</a:t>
            </a:r>
            <a:endParaRPr lang="en-IN" sz="1400" dirty="0">
              <a:solidFill>
                <a:srgbClr val="393F45"/>
              </a:solidFill>
              <a:latin typeface="Calibri"/>
            </a:endParaRPr>
          </a:p>
          <a:p>
            <a:pPr marL="141732" indent="-141732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IN" sz="1400" b="1" dirty="0" err="1">
                <a:solidFill>
                  <a:srgbClr val="393F45"/>
                </a:solidFill>
                <a:latin typeface="Calibri"/>
              </a:rPr>
              <a:t>Tronscan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 — 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8"/>
              </a:rPr>
              <a:t>(LINK)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             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8"/>
              </a:rPr>
              <a:t> 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·   </a:t>
            </a:r>
            <a:r>
              <a:rPr lang="en-IN" sz="1400" b="1" dirty="0" err="1">
                <a:solidFill>
                  <a:srgbClr val="393F45"/>
                </a:solidFill>
                <a:latin typeface="Calibri"/>
              </a:rPr>
              <a:t>Etherscan</a:t>
            </a:r>
            <a:r>
              <a:rPr lang="en-IN" sz="1400" dirty="0">
                <a:solidFill>
                  <a:srgbClr val="393F45"/>
                </a:solidFill>
                <a:latin typeface="Calibri"/>
              </a:rPr>
              <a:t> — </a:t>
            </a:r>
            <a:r>
              <a:rPr lang="en-IN" sz="1400" dirty="0">
                <a:solidFill>
                  <a:srgbClr val="393F45"/>
                </a:solidFill>
                <a:latin typeface="Calibri"/>
                <a:hlinkClick r:id="rId9"/>
              </a:rPr>
              <a:t>(LINK)</a:t>
            </a:r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2DDA26-3469-19B8-5C53-6D09B55083AE}"/>
              </a:ext>
            </a:extLst>
          </p:cNvPr>
          <p:cNvGrpSpPr/>
          <p:nvPr/>
        </p:nvGrpSpPr>
        <p:grpSpPr>
          <a:xfrm>
            <a:off x="7229952" y="3585398"/>
            <a:ext cx="4848225" cy="1243812"/>
            <a:chOff x="7255571" y="3561658"/>
            <a:chExt cx="4848225" cy="124381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E3F7457-96B6-9AB6-1E99-FB3036F8384A}"/>
                </a:ext>
              </a:extLst>
            </p:cNvPr>
            <p:cNvSpPr/>
            <p:nvPr/>
          </p:nvSpPr>
          <p:spPr>
            <a:xfrm>
              <a:off x="7255571" y="3561658"/>
              <a:ext cx="4848225" cy="1243812"/>
            </a:xfrm>
            <a:prstGeom prst="roundRect">
              <a:avLst>
                <a:gd name="adj" fmla="val 0"/>
              </a:avLst>
            </a:prstGeom>
            <a:ln w="317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F83CF6-B082-85FD-8B7F-1498303BBEFC}"/>
                </a:ext>
              </a:extLst>
            </p:cNvPr>
            <p:cNvSpPr txBox="1"/>
            <p:nvPr/>
          </p:nvSpPr>
          <p:spPr>
            <a:xfrm>
              <a:off x="7276782" y="3611838"/>
              <a:ext cx="4721226" cy="113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5000"/>
                </a:lnSpc>
                <a:spcBef>
                  <a:spcPts val="1300"/>
                </a:spcBef>
                <a:spcAft>
                  <a:spcPts val="0"/>
                </a:spcAft>
              </a:pPr>
              <a:r>
                <a:rPr lang="en-IN" b="1" dirty="0">
                  <a:solidFill>
                    <a:srgbClr val="0E6E6B"/>
                  </a:solidFill>
                  <a:latin typeface="Calibri"/>
                </a:rPr>
                <a:t>Datasets &amp; label sources</a:t>
              </a:r>
            </a:p>
            <a:p>
              <a:pPr marL="141732" indent="-141732">
                <a:lnSpc>
                  <a:spcPct val="95000"/>
                </a:lnSpc>
                <a:spcBef>
                  <a:spcPts val="500"/>
                </a:spcBef>
                <a:spcAft>
                  <a:spcPts val="0"/>
                </a:spcAft>
                <a:buFont typeface="Arial"/>
                <a:buChar char="•"/>
              </a:pPr>
              <a:r>
                <a:rPr lang="en-IN" sz="1400" b="1" dirty="0">
                  <a:solidFill>
                    <a:srgbClr val="393F45"/>
                  </a:solidFill>
                  <a:latin typeface="Calibri"/>
                </a:rPr>
                <a:t>Elliptic Data Set / Elliptic++ </a:t>
              </a:r>
              <a:r>
                <a:rPr lang="en-IN" sz="1400" dirty="0">
                  <a:solidFill>
                    <a:srgbClr val="393F45"/>
                  </a:solidFill>
                  <a:latin typeface="Calibri"/>
                </a:rPr>
                <a:t>— labelled Bitcoin transactions</a:t>
              </a:r>
            </a:p>
            <a:p>
              <a:pPr marL="141732" indent="-141732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/>
                <a:buChar char="•"/>
              </a:pPr>
              <a:r>
                <a:rPr lang="en-IN" sz="1400" b="1" dirty="0">
                  <a:solidFill>
                    <a:srgbClr val="393F45"/>
                  </a:solidFill>
                  <a:latin typeface="Calibri"/>
                </a:rPr>
                <a:t>OFAC SDN crypto address list </a:t>
              </a:r>
              <a:r>
                <a:rPr lang="en-IN" sz="1400" dirty="0">
                  <a:solidFill>
                    <a:srgbClr val="393F45"/>
                  </a:solidFill>
                  <a:latin typeface="Calibri"/>
                </a:rPr>
                <a:t>— home.treasury.gov</a:t>
              </a:r>
            </a:p>
            <a:p>
              <a:pPr marL="141732" indent="-141732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/>
                <a:buChar char="•"/>
              </a:pPr>
              <a:r>
                <a:rPr lang="en-IN" sz="1400" b="1" dirty="0" err="1">
                  <a:solidFill>
                    <a:srgbClr val="393F45"/>
                  </a:solidFill>
                  <a:latin typeface="Calibri"/>
                </a:rPr>
                <a:t>BigQuery</a:t>
              </a:r>
              <a:r>
                <a:rPr lang="en-IN" sz="1400" b="1" dirty="0">
                  <a:solidFill>
                    <a:srgbClr val="393F45"/>
                  </a:solidFill>
                  <a:latin typeface="Calibri"/>
                </a:rPr>
                <a:t> public blockchain datasets </a:t>
              </a:r>
              <a:r>
                <a:rPr lang="en-IN" sz="1400" dirty="0">
                  <a:solidFill>
                    <a:srgbClr val="393F45"/>
                  </a:solidFill>
                  <a:latin typeface="Calibri"/>
                </a:rPr>
                <a:t>— Bitcoin, Ethereum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00B09A-8D79-F158-ADCA-F14957A65E1B}"/>
              </a:ext>
            </a:extLst>
          </p:cNvPr>
          <p:cNvGrpSpPr/>
          <p:nvPr/>
        </p:nvGrpSpPr>
        <p:grpSpPr>
          <a:xfrm>
            <a:off x="7229951" y="1654083"/>
            <a:ext cx="4848225" cy="1822397"/>
            <a:chOff x="7248525" y="1602740"/>
            <a:chExt cx="4848225" cy="182239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AA65FDA-5A66-17B4-188D-04BE01CBBA84}"/>
                </a:ext>
              </a:extLst>
            </p:cNvPr>
            <p:cNvSpPr/>
            <p:nvPr/>
          </p:nvSpPr>
          <p:spPr>
            <a:xfrm>
              <a:off x="7248525" y="1602740"/>
              <a:ext cx="4848225" cy="1822397"/>
            </a:xfrm>
            <a:prstGeom prst="roundRect">
              <a:avLst>
                <a:gd name="adj" fmla="val 285"/>
              </a:avLst>
            </a:prstGeom>
            <a:ln w="317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4359CC3-B559-B23B-43CB-EA05C8FFC0DE}"/>
                </a:ext>
              </a:extLst>
            </p:cNvPr>
            <p:cNvSpPr txBox="1"/>
            <p:nvPr/>
          </p:nvSpPr>
          <p:spPr>
            <a:xfrm>
              <a:off x="7376477" y="1717166"/>
              <a:ext cx="4592320" cy="16743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dirty="0">
                  <a:solidFill>
                    <a:srgbClr val="1E3A5C"/>
                  </a:solidFill>
                  <a:latin typeface="Calibri"/>
                </a:rPr>
                <a:t>Research &amp; practice</a:t>
              </a:r>
            </a:p>
            <a:p>
              <a:pPr marL="141732" indent="-141732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/>
                <a:buChar char="•"/>
              </a:pPr>
              <a:r>
                <a:rPr sz="1400" b="0" i="0" dirty="0">
                  <a:solidFill>
                    <a:srgbClr val="393F45"/>
                  </a:solidFill>
                  <a:latin typeface="Calibri"/>
                </a:rPr>
                <a:t>Weber, M. et al. “Anti-Money Laundering in Bitcoin.” KDD Workshop, 2019</a:t>
              </a:r>
              <a:r>
                <a:rPr lang="en-US" sz="1400" b="0" i="0" dirty="0">
                  <a:solidFill>
                    <a:srgbClr val="393F45"/>
                  </a:solidFill>
                  <a:latin typeface="Calibri"/>
                </a:rPr>
                <a:t>  </a:t>
              </a:r>
              <a:r>
                <a:rPr lang="en-US" sz="1400" b="0" i="0" dirty="0">
                  <a:solidFill>
                    <a:srgbClr val="393F45"/>
                  </a:solidFill>
                  <a:latin typeface="Calibri"/>
                  <a:hlinkClick r:id="rId10"/>
                </a:rPr>
                <a:t>(LINK)</a:t>
              </a:r>
              <a:endParaRPr sz="1400" b="0" i="0" dirty="0">
                <a:solidFill>
                  <a:srgbClr val="393F45"/>
                </a:solidFill>
                <a:latin typeface="Calibri"/>
              </a:endParaRPr>
            </a:p>
            <a:p>
              <a:pPr marL="141732" indent="-141732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/>
                <a:buChar char="•"/>
              </a:pPr>
              <a:r>
                <a:rPr sz="1400" b="0" i="0" dirty="0" err="1">
                  <a:solidFill>
                    <a:srgbClr val="393F45"/>
                  </a:solidFill>
                  <a:latin typeface="Calibri"/>
                </a:rPr>
                <a:t>Möser</a:t>
              </a:r>
              <a:r>
                <a:rPr sz="1400" b="0" i="0" dirty="0">
                  <a:solidFill>
                    <a:srgbClr val="393F45"/>
                  </a:solidFill>
                  <a:latin typeface="Calibri"/>
                </a:rPr>
                <a:t>, M. et al. “Money Laundering Tools in the Bitcoin Ecosystem.” APWG </a:t>
              </a:r>
              <a:r>
                <a:rPr sz="1400" b="0" i="0" dirty="0" err="1">
                  <a:solidFill>
                    <a:srgbClr val="393F45"/>
                  </a:solidFill>
                  <a:latin typeface="Calibri"/>
                </a:rPr>
                <a:t>eCrime</a:t>
              </a:r>
              <a:r>
                <a:rPr sz="1400" b="0" i="0" dirty="0">
                  <a:solidFill>
                    <a:srgbClr val="393F45"/>
                  </a:solidFill>
                  <a:latin typeface="Calibri"/>
                </a:rPr>
                <a:t>, 2013</a:t>
              </a:r>
              <a:r>
                <a:rPr lang="en-US" sz="1400" b="0" i="0" dirty="0">
                  <a:solidFill>
                    <a:srgbClr val="393F45"/>
                  </a:solidFill>
                  <a:latin typeface="Calibri"/>
                </a:rPr>
                <a:t> </a:t>
              </a:r>
              <a:r>
                <a:rPr lang="en-US" sz="1400" b="0" i="0" dirty="0">
                  <a:solidFill>
                    <a:srgbClr val="393F45"/>
                  </a:solidFill>
                  <a:latin typeface="Calibri"/>
                  <a:hlinkClick r:id="rId11"/>
                </a:rPr>
                <a:t>(LINK)</a:t>
              </a:r>
              <a:endParaRPr sz="1400" b="0" i="0" dirty="0">
                <a:solidFill>
                  <a:srgbClr val="393F45"/>
                </a:solidFill>
                <a:latin typeface="Calibri"/>
              </a:endParaRPr>
            </a:p>
            <a:p>
              <a:pPr marL="141732" indent="-141732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/>
                <a:buChar char="•"/>
              </a:pPr>
              <a:r>
                <a:rPr sz="1400" b="0" i="0" dirty="0">
                  <a:solidFill>
                    <a:srgbClr val="393F45"/>
                  </a:solidFill>
                  <a:latin typeface="Calibri"/>
                </a:rPr>
                <a:t>FATF — Risk-Based Approach to Virtual Assets and VASPs, 2021</a:t>
              </a:r>
              <a:r>
                <a:rPr lang="en-US" sz="1400" b="0" i="0" dirty="0">
                  <a:solidFill>
                    <a:srgbClr val="393F45"/>
                  </a:solidFill>
                  <a:latin typeface="Calibri"/>
                </a:rPr>
                <a:t> </a:t>
              </a:r>
              <a:r>
                <a:rPr lang="en-US" sz="1400" b="0" i="0" dirty="0">
                  <a:solidFill>
                    <a:srgbClr val="393F45"/>
                  </a:solidFill>
                  <a:latin typeface="Calibri"/>
                  <a:hlinkClick r:id="rId12"/>
                </a:rPr>
                <a:t>(LINK)</a:t>
              </a:r>
              <a:endParaRPr sz="1400" b="0" i="0" dirty="0">
                <a:solidFill>
                  <a:srgbClr val="393F45"/>
                </a:solidFill>
                <a:latin typeface="Calibri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68E88D-C7DE-05A5-FA0E-FFEF733C3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70252"/>
              </p:ext>
            </p:extLst>
          </p:nvPr>
        </p:nvGraphicFramePr>
        <p:xfrm>
          <a:off x="101431" y="2576515"/>
          <a:ext cx="6913331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7872">
                  <a:extLst>
                    <a:ext uri="{9D8B030D-6E8A-4147-A177-3AD203B41FA5}">
                      <a16:colId xmlns:a16="http://schemas.microsoft.com/office/drawing/2014/main" val="1134042317"/>
                    </a:ext>
                  </a:extLst>
                </a:gridCol>
                <a:gridCol w="2300160">
                  <a:extLst>
                    <a:ext uri="{9D8B030D-6E8A-4147-A177-3AD203B41FA5}">
                      <a16:colId xmlns:a16="http://schemas.microsoft.com/office/drawing/2014/main" val="3318663851"/>
                    </a:ext>
                  </a:extLst>
                </a:gridCol>
                <a:gridCol w="2445299">
                  <a:extLst>
                    <a:ext uri="{9D8B030D-6E8A-4147-A177-3AD203B41FA5}">
                      <a16:colId xmlns:a16="http://schemas.microsoft.com/office/drawing/2014/main" val="896251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EXISTING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WHAT THEY DON'T 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WHAT ANVESHAK HAS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366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2060"/>
                          </a:solidFill>
                        </a:rPr>
                        <a:t>Commercial Analytics</a:t>
                      </a:r>
                      <a:br>
                        <a:rPr lang="en-IN" sz="1400" dirty="0"/>
                      </a:br>
                      <a:r>
                        <a:rPr lang="en-IN" sz="1200" dirty="0"/>
                        <a:t>Chainalysis · TRM Labs · Elliptic · Merkle Science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Free access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Open method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Data stays in 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Free, self-hostable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N" sz="1400" dirty="0"/>
                        <a:t>Every weight shown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N" sz="1400" dirty="0"/>
                        <a:t>Data never leaves 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760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2060"/>
                          </a:solidFill>
                        </a:rPr>
                        <a:t>Open-Source Analytics</a:t>
                      </a:r>
                      <a:br>
                        <a:rPr lang="en-IN" sz="1400" dirty="0"/>
                      </a:br>
                      <a:r>
                        <a:rPr lang="en-IN" sz="1200" dirty="0" err="1"/>
                        <a:t>GraphSense</a:t>
                      </a:r>
                      <a:r>
                        <a:rPr lang="en-IN" sz="1200" dirty="0"/>
                        <a:t> · </a:t>
                      </a:r>
                      <a:r>
                        <a:rPr lang="en-IN" sz="1200" dirty="0" err="1"/>
                        <a:t>BlockSci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Complaint intake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National wallet memory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TRON/USDT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Single-host Docker, </a:t>
                      </a:r>
                      <a:r>
                        <a:rPr lang="en-IN" sz="1400" b="1" dirty="0"/>
                        <a:t>OFFLINE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Remembers every wallet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N" sz="1400" dirty="0"/>
                        <a:t>TRON/USDT-first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5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2060"/>
                          </a:solidFill>
                        </a:rPr>
                        <a:t>Public Block Explorers</a:t>
                      </a:r>
                      <a:br>
                        <a:rPr lang="en-IN" sz="1400" dirty="0"/>
                      </a:br>
                      <a:r>
                        <a:rPr lang="en-IN" sz="1200" dirty="0" err="1"/>
                        <a:t>Tronscan</a:t>
                      </a:r>
                      <a:r>
                        <a:rPr lang="en-IN" sz="1200" dirty="0"/>
                        <a:t> · </a:t>
                      </a:r>
                      <a:r>
                        <a:rPr lang="en-IN" sz="1200" dirty="0" err="1"/>
                        <a:t>Etherscan</a:t>
                      </a:r>
                      <a:r>
                        <a:rPr lang="en-IN" sz="1200" dirty="0"/>
                        <a:t> · </a:t>
                      </a:r>
                      <a:r>
                        <a:rPr lang="en-IN" sz="1200" dirty="0" err="1"/>
                        <a:t>Blockchair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Wallet clustering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Names receiving exchange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Usable without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Automated multi-hop trace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Names VASP + confidence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No expert skill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328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2060"/>
                          </a:solidFill>
                        </a:rPr>
                        <a:t>NCRP / SAHYOG (I4C)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</a:t>
                      </a:r>
                      <a:r>
                        <a:rPr lang="en-IN" sz="1400" dirty="0" err="1"/>
                        <a:t>Links cases</a:t>
                      </a:r>
                      <a:r>
                        <a:rPr lang="en-IN" sz="1400" dirty="0"/>
                        <a:t> across states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Cross-border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 </a:t>
                      </a:r>
                      <a:r>
                        <a:rPr lang="en-IN" sz="1400" dirty="0"/>
                        <a:t>National memory + cross-border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8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2060"/>
                          </a:solidFill>
                        </a:rPr>
                        <a:t>Exchange / VASP Internal AML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Acts before deposit</a:t>
                      </a:r>
                      <a:br>
                        <a:rPr lang="en-IN" sz="1400" dirty="0"/>
                      </a:b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✗</a:t>
                      </a:r>
                      <a:r>
                        <a:rPr lang="en-IN" sz="1400" dirty="0"/>
                        <a:t> Evidence-backed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IN" sz="1400" dirty="0"/>
                        <a:t> Pre-emptive alert + evidence-backed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5410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A4411C4-E5D6-6069-D3AC-B2C78D018345}"/>
              </a:ext>
            </a:extLst>
          </p:cNvPr>
          <p:cNvSpPr/>
          <p:nvPr/>
        </p:nvSpPr>
        <p:spPr>
          <a:xfrm>
            <a:off x="126681" y="1189512"/>
            <a:ext cx="6913332" cy="956851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263FD9-2579-ADF0-2C39-D608E8CB4B05}"/>
              </a:ext>
            </a:extLst>
          </p:cNvPr>
          <p:cNvSpPr txBox="1"/>
          <p:nvPr/>
        </p:nvSpPr>
        <p:spPr>
          <a:xfrm>
            <a:off x="4215368" y="1252438"/>
            <a:ext cx="2737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PROTOTYPE LINK: </a:t>
            </a:r>
            <a:r>
              <a:rPr lang="en-US" sz="1600" dirty="0">
                <a:hlinkClick r:id="rId13"/>
              </a:rPr>
              <a:t>https://github.com/tripathidhruv/Anveshak</a:t>
            </a:r>
            <a:r>
              <a:rPr lang="en-US" sz="16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29E6CA-8315-735A-433B-464C9AC9C441}"/>
              </a:ext>
            </a:extLst>
          </p:cNvPr>
          <p:cNvSpPr txBox="1"/>
          <p:nvPr/>
        </p:nvSpPr>
        <p:spPr>
          <a:xfrm>
            <a:off x="231859" y="1677284"/>
            <a:ext cx="385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VIDEO LINK: </a:t>
            </a:r>
            <a:r>
              <a:rPr lang="en-US" sz="1600" dirty="0"/>
              <a:t>to be added</a:t>
            </a:r>
            <a:endParaRPr lang="en-IN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3ADA62-FE5D-989F-3735-2201011661B4}"/>
              </a:ext>
            </a:extLst>
          </p:cNvPr>
          <p:cNvSpPr txBox="1"/>
          <p:nvPr/>
        </p:nvSpPr>
        <p:spPr>
          <a:xfrm>
            <a:off x="167803" y="1294213"/>
            <a:ext cx="44999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DEPLOYED LINK: </a:t>
            </a:r>
            <a:r>
              <a:rPr lang="en-US" sz="1600" dirty="0"/>
              <a:t>to be added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12691</TotalTime>
  <Words>1680</Words>
  <Application>Microsoft Office PowerPoint</Application>
  <PresentationFormat>Widescreen</PresentationFormat>
  <Paragraphs>234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TradeGothic</vt:lpstr>
      <vt:lpstr>Arial</vt:lpstr>
      <vt:lpstr>Calibri</vt:lpstr>
      <vt:lpstr>Garamond</vt:lpstr>
      <vt:lpstr>Times New Roman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sanchita vinchu</cp:lastModifiedBy>
  <cp:revision>173</cp:revision>
  <dcterms:created xsi:type="dcterms:W3CDTF">2013-12-12T18:46:50Z</dcterms:created>
  <dcterms:modified xsi:type="dcterms:W3CDTF">2026-09-29T05:01:52Z</dcterms:modified>
  <cp:category/>
</cp:coreProperties>
</file>